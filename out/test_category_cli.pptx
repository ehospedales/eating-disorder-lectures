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1091672" cy="1645920"/>
          </a:xfrm>
          <a:prstGeom prst="rect">
            <a:avLst/>
          </a:prstGeom>
          <a:noFill/>
        </p:spPr>
        <p:txBody>
          <a:bodyPr wrap="square">
            <a:spAutoFit/>
          </a:bodyPr>
          <a:lstStyle/>
          <a:p>
            <a:pPr algn="ctr"/>
            <a:r>
              <a:rPr sz="4000" b="1">
                <a:solidFill>
                  <a:srgbClr val="FFFFFF"/>
                </a:solidFill>
              </a:rPr>
              <a:t>Eating Disorders – Psychiatry Board Review Quiz Bank</a:t>
            </a:r>
          </a:p>
        </p:txBody>
      </p:sp>
      <p:sp>
        <p:nvSpPr>
          <p:cNvPr id="4" name="TextBox 3"/>
          <p:cNvSpPr txBox="1"/>
          <p:nvPr/>
        </p:nvSpPr>
        <p:spPr>
          <a:xfrm>
            <a:off x="548640" y="3474720"/>
            <a:ext cx="11091672" cy="1097280"/>
          </a:xfrm>
          <a:prstGeom prst="rect">
            <a:avLst/>
          </a:prstGeom>
          <a:noFill/>
        </p:spPr>
        <p:txBody>
          <a:bodyPr wrap="square">
            <a:spAutoFit/>
          </a:bodyPr>
          <a:lstStyle/>
          <a:p>
            <a:pPr algn="ctr"/>
            <a:r>
              <a:rPr sz="2400" b="0">
                <a:solidFill>
                  <a:srgbClr val="C9A02C"/>
                </a:solidFill>
              </a:rPr>
              <a:t>Psychiatry Residency Board Review
2026</a:t>
            </a:r>
          </a:p>
        </p:txBody>
      </p:sp>
      <p:sp>
        <p:nvSpPr>
          <p:cNvPr id="5" name="Rectangle 4"/>
          <p:cNvSpPr/>
          <p:nvPr/>
        </p:nvSpPr>
        <p:spPr>
          <a:xfrm>
            <a:off x="0" y="6748272"/>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57432" cy="731520"/>
          </a:xfrm>
          <a:prstGeom prst="rect">
            <a:avLst/>
          </a:prstGeom>
          <a:noFill/>
        </p:spPr>
        <p:txBody>
          <a:bodyPr wrap="square">
            <a:spAutoFit/>
          </a:bodyPr>
          <a:lstStyle/>
          <a:p>
            <a:pPr algn="l"/>
            <a:r>
              <a:rPr sz="2800" b="1">
                <a:solidFill>
                  <a:srgbClr val="FFFFFF"/>
                </a:solidFill>
              </a:rPr>
              <a:t>How to Use These Slides</a:t>
            </a:r>
          </a:p>
        </p:txBody>
      </p:sp>
      <p:sp>
        <p:nvSpPr>
          <p:cNvPr id="4" name="TextBox 3"/>
          <p:cNvSpPr txBox="1"/>
          <p:nvPr/>
        </p:nvSpPr>
        <p:spPr>
          <a:xfrm>
            <a:off x="640080" y="1280160"/>
            <a:ext cx="11091672" cy="685800"/>
          </a:xfrm>
          <a:prstGeom prst="rect">
            <a:avLst/>
          </a:prstGeom>
          <a:noFill/>
        </p:spPr>
        <p:txBody>
          <a:bodyPr wrap="square">
            <a:spAutoFit/>
          </a:bodyPr>
          <a:lstStyle/>
          <a:p>
            <a:pPr algn="l"/>
            <a:r>
              <a:rPr sz="1800" b="0">
                <a:solidFill>
                  <a:srgbClr val="0D2B55"/>
                </a:solidFill>
              </a:rPr>
              <a:t>▸  Each question slide shows the stem and answer choices.</a:t>
            </a:r>
          </a:p>
        </p:txBody>
      </p:sp>
      <p:sp>
        <p:nvSpPr>
          <p:cNvPr id="5" name="TextBox 4"/>
          <p:cNvSpPr txBox="1"/>
          <p:nvPr/>
        </p:nvSpPr>
        <p:spPr>
          <a:xfrm>
            <a:off x="640080" y="2057400"/>
            <a:ext cx="11091672" cy="685800"/>
          </a:xfrm>
          <a:prstGeom prst="rect">
            <a:avLst/>
          </a:prstGeom>
          <a:noFill/>
        </p:spPr>
        <p:txBody>
          <a:bodyPr wrap="square">
            <a:spAutoFit/>
          </a:bodyPr>
          <a:lstStyle/>
          <a:p>
            <a:pPr algn="l"/>
            <a:r>
              <a:rPr sz="1800" b="0">
                <a:solidFill>
                  <a:srgbClr val="0D2B55"/>
                </a:solidFill>
              </a:rPr>
              <a:t>▸  Allow the audience to discuss or vote before clicking to advance.</a:t>
            </a:r>
          </a:p>
        </p:txBody>
      </p:sp>
      <p:sp>
        <p:nvSpPr>
          <p:cNvPr id="6" name="TextBox 5"/>
          <p:cNvSpPr txBox="1"/>
          <p:nvPr/>
        </p:nvSpPr>
        <p:spPr>
          <a:xfrm>
            <a:off x="640080" y="2834640"/>
            <a:ext cx="11091672" cy="685800"/>
          </a:xfrm>
          <a:prstGeom prst="rect">
            <a:avLst/>
          </a:prstGeom>
          <a:noFill/>
        </p:spPr>
        <p:txBody>
          <a:bodyPr wrap="square">
            <a:spAutoFit/>
          </a:bodyPr>
          <a:lstStyle/>
          <a:p>
            <a:pPr algn="l"/>
            <a:r>
              <a:rPr sz="1800" b="0">
                <a:solidFill>
                  <a:srgbClr val="0D2B55"/>
                </a:solidFill>
              </a:rPr>
              <a:t>▸  The NEXT slide reveals the correct answer with explanation.</a:t>
            </a:r>
          </a:p>
        </p:txBody>
      </p:sp>
      <p:sp>
        <p:nvSpPr>
          <p:cNvPr id="7" name="TextBox 6"/>
          <p:cNvSpPr txBox="1"/>
          <p:nvPr/>
        </p:nvSpPr>
        <p:spPr>
          <a:xfrm>
            <a:off x="640080" y="3611880"/>
            <a:ext cx="11091672" cy="685800"/>
          </a:xfrm>
          <a:prstGeom prst="rect">
            <a:avLst/>
          </a:prstGeom>
          <a:noFill/>
        </p:spPr>
        <p:txBody>
          <a:bodyPr wrap="square">
            <a:spAutoFit/>
          </a:bodyPr>
          <a:lstStyle/>
          <a:p>
            <a:pPr algn="l"/>
            <a:r>
              <a:rPr sz="1800" b="0">
                <a:solidFill>
                  <a:srgbClr val="0D2B55"/>
                </a:solidFill>
              </a:rPr>
              <a:t>▸  Tip: Use PowerPoint Presenter View to see notes while presenting.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Pharmacotherapy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  |  FDA-Approved Tx – BED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Topiramate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  ANSWER REVEAL  |  FDA-Approved Tx – BED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Topiramate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Lisdexamfetamine (Vyvanse) is the ONLY FDA-approved medication for moderate-to-severe Binge Eating Disorder in adults (approved 2015). It is a CNS stimulant (prodrug of dextroamphetamine). It is contraindicated in patients with cardiovascular disease and carries a risk of dependence. Fluoxetine is FDA-approved for BN, not BED.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  |  FDA-Approved Tx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Sertraline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(Prozac) at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Bupropion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Olanzapine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  ANSWER REVEAL  |  FDA-Approved Tx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Sertraline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(Prozac) at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Bupropion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Olanzapine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(higher than the typical antidepressant dose) is the ONLY FDA-approved medication for Bulimia Nervosa. Note: BUPROPION is CONTRAINDICATED in BN due to a significantly increased seizure risk in this population (electrolyte disturbances lower seizure threshold).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  |  Contraindicated Medications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Bupropion is CONTRAINDICATED in which eating disorder and why?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ARFID, because it suppresses appetite excessively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Anorexia Nervosa, because it causes excessive weight loss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because it significantly increases seizure risk in this population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because it causes cardiovascular events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  ANSWER REVEAL  |  Contraindicated Medications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Bupropion is CONTRAINDICATED in which eating disorder and why?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ARFID, because it suppresses appetite excessively</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Anorexia Nervosa, because it causes excessive weight loss</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Bulimia Nervosa, because it significantly increases seizure risk in this population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because it causes cardiovascular events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Bupropion lowers the seizure threshold and is contraindicated in BN (and purging AN). Patients with BN often have electrolyte abnormalities (hypokalemia, hypomagnesemia) from purging that further lower the seizure threshold, making the combination especially dangerous. This is a HIGH-YIELD board fact.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  |  Pharmacotherapy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has evidence for weight gain in Anorexia Nervosa and is sometimes used off-label?</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Aripiprazole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Olanzapine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Quetiapine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Clozapine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  ANSWER REVEAL  |  Pharmacotherapy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has evidence for weight gain in Anorexia Nervosa and is sometimes used off-label?</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Aripiprazole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Olanzapine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Quetiapine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Clozapine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Olanzapine has the most evidence among antipsychotics for adjunctive use in AN. It promotes weight gain, reduces anxiety around eating, and may address obsessional thinking about food. However, no medication is FDA-approved for AN, and the evidence base remains limited. A 2018 NEJM RCT showed modest benefit over placebo.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Q5  |  Comorbid MDD + BN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Bupropion, as it treats both conditions effectively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60 mg/day, as it is FDA-approved for BN and also treats depression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Tricyclic antidepressants, as they are highly effective for BN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MAOIs, as they have the best evidence for comorbid eating disorders and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Q5  ANSWER REVEAL  |  Comorbid MDD + BN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Bupropion, as it treats both conditions effectively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60 mg/day, as it is FDA-approved for BN and also treats depression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Tricyclic antidepressants, as they are highly effective for BN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MAOIs, as they have the best evidence for comorbid eating disorders and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is the first-line medication for BN; it also treats comorbid MDD. Bupropion is contraindicated in BN due to seizure risk. TCAs and MAOIs have evidence for BN but adverse effect profiles make them second/third-line. The combination of CBT-E + fluoxetine is superior to either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1</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AN has the highest mortality rate of ANY psychiatric disorder (SMR ~5-10x).</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DSM-5 REMOVED amenorrhea as a required criterion for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DSM-5 reduced BN binge/purge frequency threshold: once/week (was twice/week).</a:t>
            </a:r>
          </a:p>
        </p:txBody>
      </p:sp>
      <p:sp>
        <p:nvSpPr>
          <p:cNvPr id="7" name="TextBox 6"/>
          <p:cNvSpPr txBox="1"/>
          <p:nvPr/>
        </p:nvSpPr>
        <p:spPr>
          <a:xfrm>
            <a:off x="457200" y="3072384"/>
            <a:ext cx="11274552" cy="594360"/>
          </a:xfrm>
          <a:prstGeom prst="rect">
            <a:avLst/>
          </a:prstGeom>
          <a:noFill/>
        </p:spPr>
        <p:txBody>
          <a:bodyPr wrap="square">
            <a:spAutoFit/>
          </a:bodyPr>
          <a:lstStyle/>
          <a:p>
            <a:pPr algn="l"/>
            <a:r>
              <a:rPr sz="1600" b="0">
                <a:solidFill>
                  <a:srgbClr val="0D2B55"/>
                </a:solidFill>
              </a:rPr>
              <a:t>★  Fluoxetine 60 mg/day = only FDA-approved med for Bulimia Nervosa.</a:t>
            </a:r>
          </a:p>
        </p:txBody>
      </p:sp>
      <p:sp>
        <p:nvSpPr>
          <p:cNvPr id="8" name="TextBox 7"/>
          <p:cNvSpPr txBox="1"/>
          <p:nvPr/>
        </p:nvSpPr>
        <p:spPr>
          <a:xfrm>
            <a:off x="457200" y="3730752"/>
            <a:ext cx="11274552" cy="594360"/>
          </a:xfrm>
          <a:prstGeom prst="rect">
            <a:avLst/>
          </a:prstGeom>
          <a:noFill/>
        </p:spPr>
        <p:txBody>
          <a:bodyPr wrap="square">
            <a:spAutoFit/>
          </a:bodyPr>
          <a:lstStyle/>
          <a:p>
            <a:pPr algn="l"/>
            <a:r>
              <a:rPr sz="1600" b="0">
                <a:solidFill>
                  <a:srgbClr val="0D2B55"/>
                </a:solidFill>
              </a:rPr>
              <a:t>★  Lisdexamfetamine (Vyvanse) = only FDA-approved med for Binge Eating Disorder.</a:t>
            </a:r>
          </a:p>
        </p:txBody>
      </p:sp>
      <p:sp>
        <p:nvSpPr>
          <p:cNvPr id="9" name="TextBox 8"/>
          <p:cNvSpPr txBox="1"/>
          <p:nvPr/>
        </p:nvSpPr>
        <p:spPr>
          <a:xfrm>
            <a:off x="457200" y="4389120"/>
            <a:ext cx="11274552" cy="594360"/>
          </a:xfrm>
          <a:prstGeom prst="rect">
            <a:avLst/>
          </a:prstGeom>
          <a:noFill/>
        </p:spPr>
        <p:txBody>
          <a:bodyPr wrap="square">
            <a:spAutoFit/>
          </a:bodyPr>
          <a:lstStyle/>
          <a:p>
            <a:pPr algn="l"/>
            <a:r>
              <a:rPr sz="1600" b="0">
                <a:solidFill>
                  <a:srgbClr val="0D2B55"/>
                </a:solidFill>
              </a:rPr>
              <a:t>★  BUPROPION is CONTRAINDICATED in BN (↑ seizure risk).</a:t>
            </a:r>
          </a:p>
        </p:txBody>
      </p:sp>
      <p:sp>
        <p:nvSpPr>
          <p:cNvPr id="10" name="TextBox 9"/>
          <p:cNvSpPr txBox="1"/>
          <p:nvPr/>
        </p:nvSpPr>
        <p:spPr>
          <a:xfrm>
            <a:off x="457200" y="5047488"/>
            <a:ext cx="11274552" cy="594360"/>
          </a:xfrm>
          <a:prstGeom prst="rect">
            <a:avLst/>
          </a:prstGeom>
          <a:noFill/>
        </p:spPr>
        <p:txBody>
          <a:bodyPr wrap="square">
            <a:spAutoFit/>
          </a:bodyPr>
          <a:lstStyle/>
          <a:p>
            <a:pPr algn="l"/>
            <a:r>
              <a:rPr sz="1600" b="0">
                <a:solidFill>
                  <a:srgbClr val="0D2B55"/>
                </a:solidFill>
              </a:rPr>
              <a:t>★  Refeeding syndrome: hypophosphatemia → cardiac/respiratory failure.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2</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Russell's Sign = dorsal hand calluses from self-induced vomiting (BN).</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FBT (Maudsley) = first-line therapy for adolescents with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CBT-E = first-line psychotherapy for BN and BED in adults.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