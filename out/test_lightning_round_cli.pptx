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1091672"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11091672"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57432" cy="731520"/>
          </a:xfrm>
          <a:prstGeom prst="rect">
            <a:avLst/>
          </a:prstGeom>
          <a:noFill/>
        </p:spPr>
        <p:txBody>
          <a:bodyPr wrap="square">
            <a:spAutoFit/>
          </a:bodyPr>
          <a:lstStyle/>
          <a:p>
            <a:pPr algn="l"/>
            <a:r>
              <a:rPr sz="2800" b="1">
                <a:solidFill>
                  <a:srgbClr val="FFFFFF"/>
                </a:solidFill>
              </a:rPr>
              <a:t>Lightning Round Team Challenge</a:t>
            </a:r>
          </a:p>
        </p:txBody>
      </p:sp>
      <p:sp>
        <p:nvSpPr>
          <p:cNvPr id="4" name="TextBox 3"/>
          <p:cNvSpPr txBox="1"/>
          <p:nvPr/>
        </p:nvSpPr>
        <p:spPr>
          <a:xfrm>
            <a:off x="640080" y="1280160"/>
            <a:ext cx="11091672" cy="685800"/>
          </a:xfrm>
          <a:prstGeom prst="rect">
            <a:avLst/>
          </a:prstGeom>
          <a:noFill/>
        </p:spPr>
        <p:txBody>
          <a:bodyPr wrap="square">
            <a:spAutoFit/>
          </a:bodyPr>
          <a:lstStyle/>
          <a:p>
            <a:pPr algn="l"/>
            <a:r>
              <a:rPr sz="1800" b="0">
                <a:solidFill>
                  <a:srgbClr val="0D2B55"/>
                </a:solidFill>
              </a:rPr>
              <a:t>▸  Split residents into teams and rotate turns by question.</a:t>
            </a:r>
          </a:p>
        </p:txBody>
      </p:sp>
      <p:sp>
        <p:nvSpPr>
          <p:cNvPr id="5" name="TextBox 4"/>
          <p:cNvSpPr txBox="1"/>
          <p:nvPr/>
        </p:nvSpPr>
        <p:spPr>
          <a:xfrm>
            <a:off x="640080" y="2057400"/>
            <a:ext cx="11091672" cy="685800"/>
          </a:xfrm>
          <a:prstGeom prst="rect">
            <a:avLst/>
          </a:prstGeom>
          <a:noFill/>
        </p:spPr>
        <p:txBody>
          <a:bodyPr wrap="square">
            <a:spAutoFit/>
          </a:bodyPr>
          <a:lstStyle/>
          <a:p>
            <a:pPr algn="l"/>
            <a:r>
              <a:rPr sz="1800" b="0">
                <a:solidFill>
                  <a:srgbClr val="0D2B55"/>
                </a:solidFill>
              </a:rPr>
              <a:t>▸  Set a strict 20-30 second answer timer for each team.</a:t>
            </a:r>
          </a:p>
        </p:txBody>
      </p:sp>
      <p:sp>
        <p:nvSpPr>
          <p:cNvPr id="6" name="TextBox 5"/>
          <p:cNvSpPr txBox="1"/>
          <p:nvPr/>
        </p:nvSpPr>
        <p:spPr>
          <a:xfrm>
            <a:off x="640080" y="2834640"/>
            <a:ext cx="11091672" cy="685800"/>
          </a:xfrm>
          <a:prstGeom prst="rect">
            <a:avLst/>
          </a:prstGeom>
          <a:noFill/>
        </p:spPr>
        <p:txBody>
          <a:bodyPr wrap="square">
            <a:spAutoFit/>
          </a:bodyPr>
          <a:lstStyle/>
          <a:p>
            <a:pPr algn="l"/>
            <a:r>
              <a:rPr sz="1800" b="0">
                <a:solidFill>
                  <a:srgbClr val="0D2B55"/>
                </a:solidFill>
              </a:rPr>
              <a:t>▸  Award points for correct first attempts; optional bonus for explanations.</a:t>
            </a:r>
          </a:p>
        </p:txBody>
      </p:sp>
      <p:sp>
        <p:nvSpPr>
          <p:cNvPr id="7" name="TextBox 6"/>
          <p:cNvSpPr txBox="1"/>
          <p:nvPr/>
        </p:nvSpPr>
        <p:spPr>
          <a:xfrm>
            <a:off x="640080" y="3611880"/>
            <a:ext cx="11091672" cy="685800"/>
          </a:xfrm>
          <a:prstGeom prst="rect">
            <a:avLst/>
          </a:prstGeom>
          <a:noFill/>
        </p:spPr>
        <p:txBody>
          <a:bodyPr wrap="square">
            <a:spAutoFit/>
          </a:bodyPr>
          <a:lstStyle/>
          <a:p>
            <a:pPr algn="l"/>
            <a:r>
              <a:rPr sz="1800" b="0">
                <a:solidFill>
                  <a:srgbClr val="0D2B55"/>
                </a:solidFill>
              </a:rPr>
              <a:t>▸  Use the score tracker slide to keep cumulative team totals.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TextBox 1"/>
          <p:cNvSpPr txBox="1"/>
          <p:nvPr/>
        </p:nvSpPr>
        <p:spPr>
          <a:xfrm>
            <a:off x="274320" y="109728"/>
            <a:ext cx="11640312" cy="731520"/>
          </a:xfrm>
          <a:prstGeom prst="rect">
            <a:avLst/>
          </a:prstGeom>
          <a:noFill/>
        </p:spPr>
        <p:txBody>
          <a:bodyPr wrap="square">
            <a:spAutoFit/>
          </a:bodyPr>
          <a:lstStyle/>
          <a:p>
            <a:pPr algn="ctr"/>
            <a:r>
              <a:rPr sz="3600" b="1">
                <a:solidFill>
                  <a:srgbClr val="C9A02C"/>
                </a:solidFill>
              </a:rPr>
              <a:t>LIGHTNING ROUND</a:t>
            </a:r>
          </a:p>
        </p:txBody>
      </p:sp>
      <p:sp>
        <p:nvSpPr>
          <p:cNvPr id="3" name="TextBox 2"/>
          <p:cNvSpPr txBox="1"/>
          <p:nvPr/>
        </p:nvSpPr>
        <p:spPr>
          <a:xfrm>
            <a:off x="914400" y="1463040"/>
            <a:ext cx="10360152" cy="594360"/>
          </a:xfrm>
          <a:prstGeom prst="rect">
            <a:avLst/>
          </a:prstGeom>
          <a:noFill/>
        </p:spPr>
        <p:txBody>
          <a:bodyPr wrap="square">
            <a:spAutoFit/>
          </a:bodyPr>
          <a:lstStyle/>
          <a:p>
            <a:pPr algn="l"/>
            <a:r>
              <a:rPr sz="2400" b="1">
                <a:solidFill>
                  <a:srgbClr val="FFFFFF"/>
                </a:solidFill>
              </a:rPr>
              <a:t>1) Teams alternate question turns.</a:t>
            </a:r>
          </a:p>
        </p:txBody>
      </p:sp>
      <p:sp>
        <p:nvSpPr>
          <p:cNvPr id="4" name="TextBox 3"/>
          <p:cNvSpPr txBox="1"/>
          <p:nvPr/>
        </p:nvSpPr>
        <p:spPr>
          <a:xfrm>
            <a:off x="914400" y="2286000"/>
            <a:ext cx="10360152" cy="594360"/>
          </a:xfrm>
          <a:prstGeom prst="rect">
            <a:avLst/>
          </a:prstGeom>
          <a:noFill/>
        </p:spPr>
        <p:txBody>
          <a:bodyPr wrap="square">
            <a:spAutoFit/>
          </a:bodyPr>
          <a:lstStyle/>
          <a:p>
            <a:pPr algn="l"/>
            <a:r>
              <a:rPr sz="2400" b="1">
                <a:solidFill>
                  <a:srgbClr val="FFFFFF"/>
                </a:solidFill>
              </a:rPr>
              <a:t>2) 20-30 seconds to lock answer.</a:t>
            </a:r>
          </a:p>
        </p:txBody>
      </p:sp>
      <p:sp>
        <p:nvSpPr>
          <p:cNvPr id="5" name="TextBox 4"/>
          <p:cNvSpPr txBox="1"/>
          <p:nvPr/>
        </p:nvSpPr>
        <p:spPr>
          <a:xfrm>
            <a:off x="914400" y="3108960"/>
            <a:ext cx="10360152" cy="594360"/>
          </a:xfrm>
          <a:prstGeom prst="rect">
            <a:avLst/>
          </a:prstGeom>
          <a:noFill/>
        </p:spPr>
        <p:txBody>
          <a:bodyPr wrap="square">
            <a:spAutoFit/>
          </a:bodyPr>
          <a:lstStyle/>
          <a:p>
            <a:pPr algn="l"/>
            <a:r>
              <a:rPr sz="2400" b="1">
                <a:solidFill>
                  <a:srgbClr val="FFFFFF"/>
                </a:solidFill>
              </a:rPr>
              <a:t>3) +1 point for correct answer, 0 for incorrect.</a:t>
            </a:r>
          </a:p>
        </p:txBody>
      </p:sp>
      <p:sp>
        <p:nvSpPr>
          <p:cNvPr id="6" name="TextBox 5"/>
          <p:cNvSpPr txBox="1"/>
          <p:nvPr/>
        </p:nvSpPr>
        <p:spPr>
          <a:xfrm>
            <a:off x="914400" y="3931920"/>
            <a:ext cx="10360152" cy="594360"/>
          </a:xfrm>
          <a:prstGeom prst="rect">
            <a:avLst/>
          </a:prstGeom>
          <a:noFill/>
        </p:spPr>
        <p:txBody>
          <a:bodyPr wrap="square">
            <a:spAutoFit/>
          </a:bodyPr>
          <a:lstStyle/>
          <a:p>
            <a:pPr algn="l"/>
            <a:r>
              <a:rPr sz="2400" b="1">
                <a:solidFill>
                  <a:srgbClr val="FFFFFF"/>
                </a:solidFill>
              </a:rPr>
              <a:t>4) Optional +1 bonus for concise rationale.</a:t>
            </a:r>
          </a:p>
        </p:txBody>
      </p:sp>
      <p:sp>
        <p:nvSpPr>
          <p:cNvPr id="7" name="TextBox 6"/>
          <p:cNvSpPr txBox="1"/>
          <p:nvPr/>
        </p:nvSpPr>
        <p:spPr>
          <a:xfrm>
            <a:off x="731520" y="5394960"/>
            <a:ext cx="10725912" cy="548640"/>
          </a:xfrm>
          <a:prstGeom prst="rect">
            <a:avLst/>
          </a:prstGeom>
          <a:noFill/>
        </p:spPr>
        <p:txBody>
          <a:bodyPr wrap="square">
            <a:spAutoFit/>
          </a:bodyPr>
          <a:lstStyle/>
          <a:p>
            <a:pPr algn="ctr"/>
            <a:r>
              <a:rPr sz="1600" b="0">
                <a:solidFill>
                  <a:srgbClr val="F2F4F8"/>
                </a:solidFill>
              </a:rPr>
              <a:t>Tip: Keep pace brisk and debrief after every 3-5 questions.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TextBox 1"/>
          <p:cNvSpPr txBox="1"/>
          <p:nvPr/>
        </p:nvSpPr>
        <p:spPr>
          <a:xfrm>
            <a:off x="274320" y="91440"/>
            <a:ext cx="11640312" cy="640080"/>
          </a:xfrm>
          <a:prstGeom prst="rect">
            <a:avLst/>
          </a:prstGeom>
          <a:noFill/>
        </p:spPr>
        <p:txBody>
          <a:bodyPr wrap="square">
            <a:spAutoFit/>
          </a:bodyPr>
          <a:lstStyle/>
          <a:p>
            <a:pPr algn="ctr"/>
            <a:r>
              <a:rPr sz="3400" b="1">
                <a:solidFill>
                  <a:srgbClr val="C9A02C"/>
                </a:solidFill>
              </a:rPr>
              <a:t>SCORE TRACKER</a:t>
            </a:r>
          </a:p>
        </p:txBody>
      </p:sp>
      <p:sp>
        <p:nvSpPr>
          <p:cNvPr id="3" name="Rectangle 2"/>
          <p:cNvSpPr/>
          <p:nvPr/>
        </p:nvSpPr>
        <p:spPr>
          <a:xfrm>
            <a:off x="365760" y="868680"/>
            <a:ext cx="2727198" cy="5943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914400"/>
            <a:ext cx="2690622" cy="502920"/>
          </a:xfrm>
          <a:prstGeom prst="rect">
            <a:avLst/>
          </a:prstGeom>
          <a:noFill/>
        </p:spPr>
        <p:txBody>
          <a:bodyPr wrap="square">
            <a:spAutoFit/>
          </a:bodyPr>
          <a:lstStyle/>
          <a:p>
            <a:pPr algn="ctr"/>
            <a:r>
              <a:rPr sz="2000" b="1">
                <a:solidFill>
                  <a:srgbClr val="0D2B55"/>
                </a:solidFill>
              </a:rPr>
              <a:t>Team 1</a:t>
            </a:r>
          </a:p>
        </p:txBody>
      </p:sp>
      <p:sp>
        <p:nvSpPr>
          <p:cNvPr id="5" name="Rectangle 4"/>
          <p:cNvSpPr/>
          <p:nvPr/>
        </p:nvSpPr>
        <p:spPr>
          <a:xfrm>
            <a:off x="365760" y="1508760"/>
            <a:ext cx="2727198" cy="4846320"/>
          </a:xfrm>
          <a:prstGeom prst="rect">
            <a:avLst/>
          </a:prstGeom>
          <a:solidFill>
            <a:srgbClr val="1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737360"/>
            <a:ext cx="2690622" cy="1097280"/>
          </a:xfrm>
          <a:prstGeom prst="rect">
            <a:avLst/>
          </a:prstGeom>
          <a:noFill/>
        </p:spPr>
        <p:txBody>
          <a:bodyPr wrap="square">
            <a:spAutoFit/>
          </a:bodyPr>
          <a:lstStyle/>
          <a:p>
            <a:pPr algn="ctr"/>
            <a:r>
              <a:rPr sz="4800" b="1">
                <a:solidFill>
                  <a:srgbClr val="C9A02C"/>
                </a:solidFill>
              </a:rPr>
              <a:t>0</a:t>
            </a:r>
          </a:p>
        </p:txBody>
      </p:sp>
      <p:sp>
        <p:nvSpPr>
          <p:cNvPr id="7" name="Rectangle 6"/>
          <p:cNvSpPr/>
          <p:nvPr/>
        </p:nvSpPr>
        <p:spPr>
          <a:xfrm>
            <a:off x="3275838" y="868680"/>
            <a:ext cx="2727198" cy="5943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4126" y="914400"/>
            <a:ext cx="2690622" cy="502920"/>
          </a:xfrm>
          <a:prstGeom prst="rect">
            <a:avLst/>
          </a:prstGeom>
          <a:noFill/>
        </p:spPr>
        <p:txBody>
          <a:bodyPr wrap="square">
            <a:spAutoFit/>
          </a:bodyPr>
          <a:lstStyle/>
          <a:p>
            <a:pPr algn="ctr"/>
            <a:r>
              <a:rPr sz="2000" b="1">
                <a:solidFill>
                  <a:srgbClr val="0D2B55"/>
                </a:solidFill>
              </a:rPr>
              <a:t>Team 2</a:t>
            </a:r>
          </a:p>
        </p:txBody>
      </p:sp>
      <p:sp>
        <p:nvSpPr>
          <p:cNvPr id="9" name="Rectangle 8"/>
          <p:cNvSpPr/>
          <p:nvPr/>
        </p:nvSpPr>
        <p:spPr>
          <a:xfrm>
            <a:off x="3275838" y="1508760"/>
            <a:ext cx="2727198" cy="4846320"/>
          </a:xfrm>
          <a:prstGeom prst="rect">
            <a:avLst/>
          </a:prstGeom>
          <a:solidFill>
            <a:srgbClr val="1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4126" y="1737360"/>
            <a:ext cx="2690622" cy="1097280"/>
          </a:xfrm>
          <a:prstGeom prst="rect">
            <a:avLst/>
          </a:prstGeom>
          <a:noFill/>
        </p:spPr>
        <p:txBody>
          <a:bodyPr wrap="square">
            <a:spAutoFit/>
          </a:bodyPr>
          <a:lstStyle/>
          <a:p>
            <a:pPr algn="ctr"/>
            <a:r>
              <a:rPr sz="4800" b="1">
                <a:solidFill>
                  <a:srgbClr val="C9A02C"/>
                </a:solidFill>
              </a:rPr>
              <a:t>0</a:t>
            </a:r>
          </a:p>
        </p:txBody>
      </p:sp>
      <p:sp>
        <p:nvSpPr>
          <p:cNvPr id="11" name="Rectangle 10"/>
          <p:cNvSpPr/>
          <p:nvPr/>
        </p:nvSpPr>
        <p:spPr>
          <a:xfrm>
            <a:off x="6185916" y="868680"/>
            <a:ext cx="2727198" cy="5943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4204" y="914400"/>
            <a:ext cx="2690622" cy="502920"/>
          </a:xfrm>
          <a:prstGeom prst="rect">
            <a:avLst/>
          </a:prstGeom>
          <a:noFill/>
        </p:spPr>
        <p:txBody>
          <a:bodyPr wrap="square">
            <a:spAutoFit/>
          </a:bodyPr>
          <a:lstStyle/>
          <a:p>
            <a:pPr algn="ctr"/>
            <a:r>
              <a:rPr sz="2000" b="1">
                <a:solidFill>
                  <a:srgbClr val="0D2B55"/>
                </a:solidFill>
              </a:rPr>
              <a:t>Team 3</a:t>
            </a:r>
          </a:p>
        </p:txBody>
      </p:sp>
      <p:sp>
        <p:nvSpPr>
          <p:cNvPr id="13" name="Rectangle 12"/>
          <p:cNvSpPr/>
          <p:nvPr/>
        </p:nvSpPr>
        <p:spPr>
          <a:xfrm>
            <a:off x="6185916" y="1508760"/>
            <a:ext cx="2727198" cy="4846320"/>
          </a:xfrm>
          <a:prstGeom prst="rect">
            <a:avLst/>
          </a:prstGeom>
          <a:solidFill>
            <a:srgbClr val="1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04204" y="1737360"/>
            <a:ext cx="2690622" cy="1097280"/>
          </a:xfrm>
          <a:prstGeom prst="rect">
            <a:avLst/>
          </a:prstGeom>
          <a:noFill/>
        </p:spPr>
        <p:txBody>
          <a:bodyPr wrap="square">
            <a:spAutoFit/>
          </a:bodyPr>
          <a:lstStyle/>
          <a:p>
            <a:pPr algn="ctr"/>
            <a:r>
              <a:rPr sz="4800" b="1">
                <a:solidFill>
                  <a:srgbClr val="C9A02C"/>
                </a:solidFill>
              </a:rPr>
              <a:t>0</a:t>
            </a:r>
          </a:p>
        </p:txBody>
      </p:sp>
      <p:sp>
        <p:nvSpPr>
          <p:cNvPr id="15" name="Rectangle 14"/>
          <p:cNvSpPr/>
          <p:nvPr/>
        </p:nvSpPr>
        <p:spPr>
          <a:xfrm>
            <a:off x="9095994" y="868680"/>
            <a:ext cx="2727198" cy="594360"/>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4282" y="914400"/>
            <a:ext cx="2690622" cy="502920"/>
          </a:xfrm>
          <a:prstGeom prst="rect">
            <a:avLst/>
          </a:prstGeom>
          <a:noFill/>
        </p:spPr>
        <p:txBody>
          <a:bodyPr wrap="square">
            <a:spAutoFit/>
          </a:bodyPr>
          <a:lstStyle/>
          <a:p>
            <a:pPr algn="ctr"/>
            <a:r>
              <a:rPr sz="2000" b="1">
                <a:solidFill>
                  <a:srgbClr val="0D2B55"/>
                </a:solidFill>
              </a:rPr>
              <a:t>Team 4</a:t>
            </a:r>
          </a:p>
        </p:txBody>
      </p:sp>
      <p:sp>
        <p:nvSpPr>
          <p:cNvPr id="17" name="Rectangle 16"/>
          <p:cNvSpPr/>
          <p:nvPr/>
        </p:nvSpPr>
        <p:spPr>
          <a:xfrm>
            <a:off x="9095994" y="1508760"/>
            <a:ext cx="2727198" cy="4846320"/>
          </a:xfrm>
          <a:prstGeom prst="rect">
            <a:avLst/>
          </a:prstGeom>
          <a:solidFill>
            <a:srgbClr val="1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14282" y="1737360"/>
            <a:ext cx="2690622" cy="1097280"/>
          </a:xfrm>
          <a:prstGeom prst="rect">
            <a:avLst/>
          </a:prstGeom>
          <a:noFill/>
        </p:spPr>
        <p:txBody>
          <a:bodyPr wrap="square">
            <a:spAutoFit/>
          </a:bodyPr>
          <a:lstStyle/>
          <a:p>
            <a:pPr algn="ctr"/>
            <a:r>
              <a:rPr sz="4800" b="1">
                <a:solidFill>
                  <a:srgbClr val="C9A02C"/>
                </a:solidFill>
              </a:rPr>
              <a:t>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  |  FDA-Approved Tx – BED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  ANSWER REVEAL  |  FDA-Approved Tx – BED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  |  FDA-Approved Tx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  ANSWER REVEAL  |  FDA-Approved Tx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  |  Contraindicated Medications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  ANSWER REVEAL  |  Contraindicated Medications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  |  Pharmacotherapy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  ANSWER REVEAL  |  Pharmacotherapy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  |  Comorbid MDD + BN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  ANSWER REVEAL  |  Comorbid MDD + BN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11274552"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11274552"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11274552"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11274552"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