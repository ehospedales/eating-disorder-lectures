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1091672"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11091672"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12188952"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57432"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11091672"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11091672"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11091672"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11091672"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DSM-5 Diagnostic Criteria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  |  Diagnostic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According to DSM-5, which of the following is NOT a required criterion for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Restriction of energy intake leading to significantly low body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Intense fear of gaining weight or persistent behavior that interferes with weight gain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Recurrent compensatory behaviors such as self-induced vomiting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Disturbance in the way one's body weight or shape is experienced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  ANSWER REVEAL  |  Diagnostic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According to DSM-5, which of the following is NOT a required criterion for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Restriction of energy intake leading to significantly low body weight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Intense fear of gaining weight or persistent behavior that interferes with weight gain</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Recurrent compensatory behaviors such as self-induced vomiting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Disturbance in the way one's body weight or shape is experienced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Recurrent compensatory behaviors (vomiting, laxative use, etc.) are a criterion for Bulimia Nervosa, NOT Anorexia Nervosa. The three DSM-5 criteria for AN are: (1) restriction leading to low body weight, (2) intense fear of weight gain, and (3) body image disturbance/lack of recognition of the seriousness of low weight.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  |  AN Subtypes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With purging behaviors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Restricting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Binge-eating/purging type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Atypical 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  ANSWER REVEAL  |  AN Subtypes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19-year-old woman has a BMI of 16.5, fears gaining weight, and perceives herself as overweight despite her low weight. Her menstrual periods have stopped. Which DSM-5 specifier best describes her subtype of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With purging behaviors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Restricting type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Binge-eating/purging type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Atypical 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specifies two subtypes of AN: (1) Restricting type – weight loss achieved primarily by dieting, fasting, or excessive exercise; and (2) Binge-eating/purging type – recurrent episodes of binge eating or purging during the past 3 months. Note: amenorrhea was removed as a required criterion in DSM-5.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  |  Diagnostic Criteria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For a diagnosis of Bulimia Nervosa (BN), DSM-5 requires binge eating and inappropriate compensatory behaviors to occur, on average, at least: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Once a week for 3 months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Twice a week for 3 months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Once a week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Three times a week for 1 month</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  ANSWER REVEAL  |  Diagnostic Criteria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For a diagnosis of Bulimia Nervosa (BN), DSM-5 requires binge eating and inappropriate compensatory behaviors to occur, on average, at least:</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Once a week for 3 months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Twice a week for 3 months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Once a week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Three times a week for 1 month</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DSM-5 changed the frequency threshold from DSM-IV (twice a week) to ONCE a week for at least 3 months. This is a commonly tested change on board exams.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  |  BED vs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distinguishes Binge Eating Disorder (BED) from Bulimia Nervosa (BN)?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BED requires a larger quantity of food consumed per episode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BED is not associated with a sense of loss of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BED lacks recurrent inappropriate compensatory behaviors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only occurs in individuals who are overweight or obese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  ANSWER REVEAL  |  BED vs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distinguishes Binge Eating Disorder (BED) from Bulimia Nervosa (BN)?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BED requires a larger quantity of food consumed per episode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BED is not associated with a sense of loss of control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BED lacks recurrent inappropriate compensatory behaviors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only occurs in individuals who are overweight or obese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key distinction is that BED does NOT involve recurrent inappropriate compensatory behaviors (e.g., purging, fasting, excessive exercise) to counteract the binge. BED can occur at any weight, and the sense of loss of control IS required in BED.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Q5  |  Pica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Rumination Disorder</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ARFID</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Pica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Binge Eating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Q5  ANSWER REVEAL  |  Pica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7-year-old boy persistently eats dirt and clay for more than 1 month. He has no nutritional deficiency. His eating behavior is not culturally sanctioned. 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Rumination Disorder</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ARFID</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Pica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Binge Eating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Pica is the persistent eating of non-nutritive, non-food substances for at least 1 month. It is inappropriate to the developmental level (age ≥2), not culturally sanctioned. It can be diagnosed alongside other conditions (ASD, intellectual disability, pregnancy).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Q6  |  ARFID vs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ARFID (Avoidant/Restrictive Food Intake Disorder) differs from Anorexia Nervosa primarily because ARFID: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Does not result in significant weight loss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Is exclusively diagnosed in children under age 12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Does not involve disturbance in how body weight or shape is experienced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Always involves a fear of choking or vomiting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Q6  ANSWER REVEAL  |  ARFID vs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ARFID (Avoidant/Restrictive Food Intake Disorder) differs from Anorexia Nervosa primarily because ARFID: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Does not result in significant weight loss</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Is exclusively diagnosed in children under age 12</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Does not involve disturbance in how body weight or shape is experienced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Always involves a fear of choking or vomiting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ARFID involves restricted food intake based on sensory characteristics, lack of interest in eating, or fear of aversive consequences (choking, vomiting), but crucially does NOT involve the body image disturbance or fear of weight gain that characterize AN. ARFID can occur at any age and can cause significant weight loss.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Q7  |  Binge Eating Definition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DSM-5 defines 'binge eating' as eating, in a discrete period of time, an amount of food that is definitely larger than most people would eat under similar circumstances, along with: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 subsequent period of fasting lasting at least 24 hours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 sense of loss of control over eating during the episode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Purging behavior within 1 hour of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Distress rated ≥7 on a 10-point scale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Q7  ANSWER REVEAL  |  Binge Eating Definition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DSM-5 defines 'binge eating' as eating, in a discrete period of time, an amount of food that is definitely larger than most people would eat under similar circumstances, along with: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 subsequent period of fasting lasting at least 24 hours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 sense of loss of control over eating during the episode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Purging behavior within 1 hour of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Distress rated ≥7 on a 10-point scale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 binge episode has two components: (1) eating a large amount in a discrete period and (2) a sense of LOSS OF CONTROL during the episode. The sense of loss of control is central to the diagnosis and differentiates it from simple overeating.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Q8  |  OSFED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an 'Other Specified Feeding or Eating Disorder' (OSFED) category in DSM-5?</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Binge Eating Disorder with a BMI &gt; 40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Atypical Anorexia Nervosa (normal or above-normal weight but meets all other AN criteria)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Anorexia Nervosa with binge/purge subtype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Q8  ANSWER REVEAL  |  OSFED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an 'Other Specified Feeding or Eating Disorder' (OSFED) category in DSM-5?</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Binge Eating Disorder with a BMI &gt; 40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Atypical Anorexia Nervosa (normal or above-normal weight but meets all other AN criteria)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Anorexia Nervosa with binge/purge subtype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OSFED includes: (1) Atypical AN (normal/high weight but meets all other AN criteria), (2) BN of low frequency/duration, (3) BED of low frequency/duration, (4) Purging disorder (purging without binge eating), and (5) Night eating syndrome. Atypical AN is important clinically—these patients may be medically unstable despite not appearing underweight.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Epidemiology &amp; Risk Factors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Q9  |  Mortality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eating disorder has the HIGHEST mortality rate among all psychiatric disorders?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Bulimia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ARFID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Q9  ANSWER REVEAL  |  Mortality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eating disorder has the HIGHEST mortality rate among all psychiatric disorders?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Bulimia Nervosa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Binge Eating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Anorexia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ARFID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Anorexia Nervosa has the highest mortality rate of any psychiatric disorder, with a standardized mortality ratio (SMR) of approximately 5–10. Deaths occur from medical complications (cardiac arrhythmias, electrolyte imbalances) and suicide. The crude mortality rate is approximately 5–10% per decade.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Q10  |  Prevalence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lifetime prevalence of Anorexia Nervosa in women is approximately: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0.1–0.3%</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0.9–2%</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8–10%</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Q10  ANSWER REVEAL  |  Prevalence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lifetime prevalence of Anorexia Nervosa in women is approximately: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0.1–0.3%</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0.9–2%</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8–10%</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lifetime prevalence of AN in women is approximately 0.9–2%. BN has a lifetime prevalence of approximately 1.5%, and BED approximately 3.5% in women. These are important reference points for board questions on epidemiology.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Q11  |  Eating Disorders in Males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statements about eating disorders in males is MOST accurate?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Eating disorders are exceedingly rare in males, with fewer than 100 cases reported annually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Males account for approximately 25–40% of individuals with Binge Eating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Anorexia Nervosa does not occur in males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Males with eating disorders are more likely to seek treatment than females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Q11  ANSWER REVEAL  |  Eating Disorders in Males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statements about eating disorders in males is MOST accurate?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Eating disorders are exceedingly rare in males, with fewer than 100 cases reported annually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Males account for approximately 25–40% of individuals with Binge Eating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Anorexia Nervosa does not occur in males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Males with eating disorders are more likely to seek treatment than females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While AN and BN are predominantly female (female-to-male ratio ~10:1), BED has a more balanced sex ratio, with males comprising approximately 25–40% of BED cases. Males are frequently underdiagnosed due to clinical bias and different presentations (e.g., muscle dysmorphia).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Q12  |  Risk Factors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STRONGEST evidence-based risk factor for developing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Low socioeconomic status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First-degree relative with AN (genetic/familial risk)</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Childhood trauma and PTSD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Obesity in early childhood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Q12  ANSWER REVEAL  |  Risk Factors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STRONGEST evidence-based risk factor for developing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Low socioeconomic status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First-degree relative with AN (genetic/familial risk)</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Childhood trauma and PTSD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Obesity in early childhood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Twin studies demonstrate heritability of AN at approximately 50–80%. Having a first-degree relative with AN increases risk substantially. Other well-established risk factors include perfectionism, negative emotionality, OCD traits, early onset puberty in girls, and exposure to thin-ideal media, but genetic/familial risk has the strongest evidence.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Medical Complications &amp; Laboratory Findings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Q13  |  Electrolytes – BN Purging</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22-year-old woman with known Bulimia Nervosa presents with muscle cramps, weakness, and palpitations. Which electrolyte abnormality is MOST commonly associated with purging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Hypernatremia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Hypokalemic hypochloremic metabolic alkalosis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with metabolic acidosis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with euvolemia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Q13  ANSWER REVEAL  |  Electrolytes – BN Purging</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22-year-old woman with known Bulimia Nervosa presents with muscle cramps, weakness, and palpitations. Which electrolyte abnormality is MOST commonly associated with purging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Hypernatremia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Hypokalemic hypochloremic metabolic alkalosis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with metabolic acidosis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with euvolemia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Self-induced vomiting causes loss of hydrochloric acid (HCl) from the stomach, leading to: hypokalemia (K+ lost in vomit and compensatory renal excretion), hypochloremia, and metabolic alkalosis. Elevated bicarbonate (&gt;30 mEq/L) is a classic lab finding in BN with purging. Serum amylase may also be elevated.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Q14  |  Cardiac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cardiovascular finding is a recognized complication of severe Anorexia Nervosa and constitutes a medical emergency?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Atrial fibrillation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QTc prolongation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Right bundle branch block</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Mitral valve stenosis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Q14  ANSWER REVEAL  |  Cardiac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cardiovascular finding is a recognized complication of severe Anorexia Nervosa and constitutes a medical emergency?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Atrial fibrillation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QTc prolongation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Right bundle branch block</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Mitral valve stenosis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QTc prolongation occurs in AN due to malnutrition and electrolyte abnormalities (hypokalemia, hypomagnesemia). QTc &gt;500 ms significantly increases the risk of life-threatening arrhythmias (torsades de pointes, ventricular fibrillation). An ECG is recommended in any patient with severe AN. Bradycardia is the most common cardiac finding.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Q15  |  Physical Exam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'Russell's Sign,' and in which eating disorder is it found?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Lanugo hair on the arms and back, found in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Calluses or abrasions on the dorsum of the hand from repetitive self-induced vomiting, found in Bulimia Nervosa</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Bilateral parotid gland enlargement, found in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Peripheral edema from refeeding, found in Anorexia Nervosa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Q15  ANSWER REVEAL  |  Physical Exam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'Russell's Sign,' and in which eating disorder is it found?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Lanugo hair on the arms and back, found in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Calluses or abrasions on the dorsum of the hand from repetitive self-induced vomiting, found in Bulimia Nervosa</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Bilateral parotid gland enlargement, found in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Peripheral edema from refeeding, found in Anorexia Nervosa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Russell's Sign is calluses, scars, or abrasions on the knuckles/dorsum of the dominant hand caused by repeated contact with the upper incisors during self-induced vomiting. It is pathognomonic for BN or the binge-purge subtype of AN. (Note: parotid enlargement is also found in BN but is a separate finding called 'chipmunk cheeks'.)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Q16  |  Refeeding Syndrome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Refeeding syndrome is a potentially fatal complication of nutritional rehabilitation. Its hallmark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Hyperphosphatemia leading to calcium precipitation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Hypophosphatemia leading to cardiac, respiratory, and neurological complications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Hyperkalemia leading to cardiac arrhythmia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Hyponatremia causing cerebral edema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Q16  ANSWER REVEAL  |  Refeeding Syndrome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Refeeding syndrome is a potentially fatal complication of nutritional rehabilitation. Its hallmark 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Hyperphosphatemia leading to calcium precipitation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Hypophosphatemia leading to cardiac, respiratory, and neurological complications</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Hyperkalemia leading to cardiac arrhythmia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Hyponatremia causing cerebral edema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Refeeding syndrome occurs when malnourished patients are rapidly refed. Carbohydrate load causes insulin surge, driving phosphate into cells → profound hypophosphatemia. This impairs ATP production, causing: cardiac failure, respiratory failure, rhabdomyolysis, seizures, and death. Phosphate levels should be closely monitored during refeeding, and refeeding should begin SLOWLY.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Q17  |  Bone Complications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bone-related complications is seen in patients with chronic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Osteosclerosis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Osteopenia/osteoporosis due to hypoestrogenemia and low IGF-1</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Paget's disease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Hyperparathyroidism-related bone resorption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Q17  ANSWER REVEAL  |  Bone Complications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bone-related complications is seen in patients with chronic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Osteosclerosis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Osteopenia/osteoporosis due to hypoestrogenemia and low IGF-1</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Paget's disease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Hyperparathyroidism-related bone resorption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Osteoporosis is a serious and often irreversible complication of AN. It results from: low estrogen (hypothalamic amenorrhea), elevated cortisol, malnutrition, and decreased IGF-1. Unlike postmenopausal osteoporosis, bisphosphonates are NOT routinely recommended in AN (no proven benefit). Weight restoration and estrogen replacement may partially reverse bone loss.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Q18  |  Lab Interpretation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Potassium of 3.4 mEq/L</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Sodium of 136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Phosphorus of 1.2 mg/dL (normal 2.5–4.5)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Glucose of 70 mg/dL</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Q18  ANSWER REVEAL  |  Lab Interpretation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17-year-old girl with AN restricting type presents with lab results showing a slightly elevated BUN, low estrogen, and mild leukopenia. Her ECG shows a heart rate of 42 bpm. Which lab finding would be MOST immediately concerning?</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Potassium of 3.4 mEq/L</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Sodium of 136 mEq/L</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Phosphorus of 1.2 mg/dL (normal 2.5–4.5)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Glucose of 70 mg/dL</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Severe hypophosphatemia (&lt; 2.0 mg/dL) is immediately life-threatening, particularly during refeeding, as it can precipitate refeeding syndrome. In severe AN, phosphate should be monitored closely. The bradycardia (HR 42) is concerning but is common in AN due to vagal tone. Mild hypokalemia (3.4) and mild hypoglycemia (70) are less immediately dangerous.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Q19  |  Dental Complications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dental finding is most commonly associated with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Dental abscesses from poor hygiene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Perimylolysis (erosion of tooth enamel on lingual surface of teeth)</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Hyperdontia (extra teeth)</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Dental fluorosis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Q19  ANSWER REVEAL  |  Dental Complications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dental finding is most commonly associated with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Dental abscesses from poor hygiene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Perimylolysis (erosion of tooth enamel on lingual surface of teeth)</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Hyperdontia (extra teeth)</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Dental fluorosis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Perimylolysis is erosion of the lingual (tongue-side) surface of the upper teeth from repeated exposure to gastric acid during vomiting. It is often the first physical sign identified by dentists. Patients should be counseled to rinse with sodium bicarbonate and NOT brush immediately after vomiting (brushing spreads acid).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Psychotherapy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Q20  |  Treatment – BN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has the STRONGEST evidence base and is considered FIRST-LINE for Bulimia Nervosa in adults?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Dialectical Behavior Therapy (DBT)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Cognitive Behavioral Therapy (CBT-E)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Interpersonal Therapy (IPT)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Acceptance and Commitment Therapy (ACT)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Q20  ANSWER REVEAL  |  Treatment – BN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has the STRONGEST evidence base and is considered FIRST-LINE for Bulimia Nervosa in adults?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Dialectical Behavior Therapy (DBT)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Cognitive Behavioral Therapy (CBT-E)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Interpersonal Therapy (IPT)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Acceptance and Commitment Therapy (ACT)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Enhanced Cognitive Behavioral Therapy (CBT-E) developed by Christopher Fairburn is the gold-standard first-line treatment for BN. It targets the 'cognitive' maintenance of BN—overvaluation of shape/weight—through behavioral experiments, dietary normalization, and cognitive restructuring. IPT is also effective but takes longer to work. DBT is used for BN with emotion dysregulation.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Q21  |  FBT – Adolescent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Family-Based Treatment (FBT), also known as the 'Maudsley Approach,' is considered the first-line psychotherapy for: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Adults with BN over age 25</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Adolescents with AN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Adults with BED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Children under 8 with Pica</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Q21  ANSWER REVEAL  |  FBT – Adolescent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Family-Based Treatment (FBT), also known as the 'Maudsley Approach,' is considered the first-line psychotherapy for: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Adults with BN over age 25</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Adolescents with AN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Adults with BED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Children under 8 with Pica</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Family-Based Treatment (FBT) is the gold-standard treatment for adolescents with AN. It proceeds in three phases: (1) parents take control of refeeding, (2) control returned to adolescent as weight restores, (3) healthy adolescent development addressed. It has the strongest evidence base for this age group. CBT is preferred for adult AN.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Q22  |  Treatment – BED Psychotherapy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psychotherapy is considered first-line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Psychodynamic psychotherapy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CBT-E or guided self-help CBT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Supportive therapy</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Exposure and response prevention (ERP)</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Q22  ANSWER REVEAL  |  Treatment – BED Psychotherapy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psychotherapy is considered first-line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Psychodynamic psychotherapy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CBT-E or guided self-help CBT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Supportive therapy</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Exposure and response prevention (ERP)</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CBT-E (or guided self-help CBT) is first-line for BED, targeting the overvaluation of shape/weight, binge triggers, and dietary chaos. IPT and DBT are also effective second-line options. Unlike BN, pharmacotherapy alone (e.g., lisdexamfetamine) can also be used but psychotherapy remains first-line.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Q23  |  CBT-E Mechanism</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In CBT-E for bulimia nervosa, what is the PRIMARY cognitive target of treatment?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Depressive cognitions and hopelessness</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Overvaluation of eating, shape, and weight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Paranoid ideation about food contamination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Impaired theory of mind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Q23  ANSWER REVEAL  |  CBT-E Mechanism</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In CBT-E for bulimia nervosa, what is the PRIMARY cognitive target of treatment?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Depressive cognitions and hopelessness</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Overvaluation of eating, shape, and weight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Paranoid ideation about food contamination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Impaired theory of mind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core psychopathology in BN (and AN) according to the cognitive-behavioral model is the OVERVALUATION of eating, shape, and weight—i.e., judging self-worth almost exclusively in terms of one's ability to control eating, shape, and weight. CBT-E directly targets this maintaining mechanism.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Q24  |  FDA-Approved Tx – BED</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Q24  ANSWER REVEAL  |  FDA-Approved Tx – BED</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Q25  |  FDA-Approved Tx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Q25  ANSWER REVEAL  |  FDA-Approved Tx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Q26  |  Contraindicated Medications – BN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Q26  ANSWER REVEAL  |  Contraindicated Medications – BN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Q27  |  Pharmacotherapy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Q27  ANSWER REVEAL  |  Pharmacotherapy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Q28  |  Comorbid MDD + BN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Q28  ANSWER REVEAL  |  Comorbid MDD + BN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Hospitalization &amp; Level of Care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Q29  |  Hospitalization Criteria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BEST indicates that a patient with Anorexia Nervosa requires inpatient medical hospitalization?</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BMI of 17.5 with refusal to gain weight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Heart rate of 42 bpm, orthostatic hypotension, and potassium of 2.9 mEq/L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Persistent restriction despite outpatient CBT for 6 months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Body image disturbance without physical complications</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Q29  ANSWER REVEAL  |  Hospitalization Criteria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BEST indicates that a patient with Anorexia Nervosa requires inpatient medical hospitalization?</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BMI of 17.5 with refusal to gain weight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Heart rate of 42 bpm, orthostatic hypotension, and potassium of 2.9 mEq/L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Persistent restriction despite outpatient CBT for 6 months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Body image disturbance without physical complications</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Medical hospitalization criteria for AN (per MARSIPAN / APA guidelines) include: HR &lt;50 bpm, systolic BP &lt;90 mmHg, orthostatic changes &gt;20 mmHg, potassium &lt;3.2 mEq/L, phosphate &lt;2.0 mg/dL, glucose &lt;60 mg/dL, or QTc &gt;500 ms. The clinical picture in choice B (bradycardia + orthostasis + hypokalemia) meets medical hospitalization criteria.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Q30  |  Levels of Care</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The STEP-wise levels of care for eating disorders from least to most intensive, in correct order, 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Outpatient → Intensive Outpatient (IOP) → Partial Hospitalization (PHP) → Residential → Inpatient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Inpatient → Residential → Partial Hospitalization (PHP) → Intensive Outpatient (IOP) → Outpatient</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Intensive Outpatient (IOP) → Outpatient → Partial Hospitalization → Residential → Inpatient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Residential → Outpatient → Intensive Outpatient (IOP) → Partial Hospitalization → Inpatient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Q30  ANSWER REVEAL  |  Levels of Care</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The STEP-wise levels of care for eating disorders from least to most intensive, in correct order, is:</a:t>
            </a:r>
          </a:p>
        </p:txBody>
      </p:sp>
      <p:sp>
        <p:nvSpPr>
          <p:cNvPr id="5" name="Rectangle 4"/>
          <p:cNvSpPr/>
          <p:nvPr/>
        </p:nvSpPr>
        <p:spPr>
          <a:xfrm>
            <a:off x="365760" y="265176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1">
                <a:solidFill>
                  <a:srgbClr val="FFFFFF"/>
                </a:solidFill>
              </a:rPr>
              <a:t>✓ A.  Outpatient → Intensive Outpatient (IOP) → Partial Hospitalization (PHP) → Residential → Inpatient</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Inpatient → Residential → Partial Hospitalization (PHP) → Intensive Outpatient (IOP) → Outpatient</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Intensive Outpatient (IOP) → Outpatient → Partial Hospitalization → Residential → Inpatient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Residential → Outpatient → Intensive Outpatient (IOP) → Partial Hospitalization → Inpatient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The correct stepped care model from least to most intensive: Outpatient (weekly sessions) → IOP (9+ hours/week) → PHP/Day treatment (20+ hours/week) → Residential (24-hour supervised care) → Inpatient (medical/psychiatric hospital). The ASAM/AEDRP HONE criteria guide level-of-care decisions.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Comorbidities &amp; Special Populations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Q31  |  Comorbidities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psychiatric comorbidity has the HIGHEST prevalence in patients with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Schizophrenia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Bipolar I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Major Depressive Disorder / Anxiety Disorders</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PTSD</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Q31  ANSWER REVEAL  |  Comorbidities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psychiatric comorbidity has the HIGHEST prevalence in patients with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Schizophrenia</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Bipolar I Disorder</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Major Depressive Disorder / Anxiety Disorders</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PTSD</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Up to 50–75% of patients with AN have a comorbid mood or anxiety disorder, most commonly MDD, OCD, social anxiety disorder, and GAD. OCD and perfectionism are particularly linked to AN pathology. Schizophrenia can present with food refusal but is not the most common comorbidity.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Q32  |  Eating Disorders + Diabetes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HARD</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Insulin resistance phenomenon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Diabulimia (insulin restriction for weight control)</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Metabolic disordered eating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Factitious disorder with metabolic presentation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Q32  ANSWER REVEAL  |  Eating Disorders + Diabetes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 24-year-old woman with Type 1 Diabetes presents with poor glycemic control despite adequate insulin dosing. She has an A1c of 11% and reports episodes of overeating. She admits to intentionally reducing her insulin doses to lose weight. What is this behavior called?</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Insulin resistance phenomenon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Diabulimia (insulin restriction for weight control)</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Metabolic disordered eating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Factitious disorder with metabolic presentation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'Diabulimia' is the colloquial term for intentional insulin restriction for the purpose of weight loss in people with Type 1 Diabetes. It is a form of disordered eating unique to T1DM. It leads to chronic hyperglycemia, rapid-onset diabetic complications (retinopathy, nephropathy, neuropathy), and DKA. Recognition is critical for board purposes.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Q33  |  Muscle Dysmorphia</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eating disorders has the highest prevalence in males and is associated with the pursuit of muscularity rather than thinness?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Muscle Dysmorphia (a form of Body Dysmorphic Disorder)</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Bulimia Nervosa</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Rumination Disorder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Q33  ANSWER REVEAL  |  Muscle Dysmorphia</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eating disorders has the highest prevalence in males and is associated with the pursuit of muscularity rather than thinness?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Muscle Dysmorphia (a form of Body Dysmorphic Disorder)</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Bulimia Nervosa</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Rumination Disorder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Muscle Dysmorphia (classified under Body Dysmorphic Disorder in DSM-5) predominantly affects males and involves a preoccupation with being insufficiently muscular. It is associated with excessive exercise, use of anabolic steroids, and significant functional impairment. While not technically an eating disorder in DSM-5, it frequently appears on board questions in the context of male eating/body image pathology.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Prognosis &amp; Outcomes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Q34  |  Prognosis – AN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Approximately what percentage of patients with Anorexia Nervosa achieve full recovery?</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Less than 10%</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Approximately 50%</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Over 85%</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Nearly 100% with adequate treatment</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Q34  ANSWER REVEAL  |  Prognosis – AN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Approximately what percentage of patients with Anorexia Nervosa achieve full recovery?</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Less than 10%</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Approximately 50%</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Over 85%</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Nearly 100% with adequate treatment</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Long-term outcome studies suggest approximately 50% of AN patients achieve full recovery, ~30% partially recover, and ~20% develop a chronic course. Earlier age of onset and shorter duration of illness before treatment are the best predictors of recovery. Males may have slightly better outcomes than females.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Q35  |  Prognosis – Poor Predictors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BEST predictor of poor outcome in Anorexia Nervosa?</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Female sex</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Age of onset in adolescence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Longer duration of illness before treatment</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Absence of comorbid depression</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Q35  ANSWER REVEAL  |  Prognosis – Poor Predictors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BEST predictor of poor outcome in Anorexia Nervosa?</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Female sex</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Age of onset in adolescence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Longer duration of illness before treatment</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Absence of comorbid depression</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Longer duration of illness (chronicity) before treatment is consistently associated with worse outcomes in AN. Other poor prognostic factors include: older age of onset, low minimum BMI, previous treatment failures, severe purging, comorbid personality disorders, and denial of illness. Earlier intervention is associated with better outcomes.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Clinical Vignettes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Q36  |  AN Management – Inpatient Decision</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An 18-year-old woman is brought by her parents for evaluation. Over the past year, she has lost 25 lbs and currently weighs 98 lbs at 5'5" (BMI 16.3). She exercises 3 hours daily and refuses to eat more than 800 calories per day. She denies feeling thin, saying 'I still see fat when I look in the mirror.' Her periods stopped 4 months ago. Labs show mild leukopenia and low estradiol. ECG shows sinus bradycardia at 48 bpm.</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Q36  |  AN Management – Inpatient Decision</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Which of the following is the MOST appropriate next step in management?</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Start fluoxetine 60 mg/day and schedule weekly CBT</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Admit to inpatient medical unit for cardiac monitoring and nutritional rehabilitation</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Refer to intensive outpatient eating disorder program</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Order a brain MRI to rule out hypothalamic tumor</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Q36  ANSWER REVEAL  |  AN Management – Inpatient Decision</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Which of the following is the MOST appropriate next step in management?</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Start fluoxetine 60 mg/day and schedule weekly CBT</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Admit to inpatient medical unit for cardiac monitoring and nutritional rehabilitation</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Refer to intensive outpatient eating disorder program</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Order a brain MRI to rule out hypothalamic tumor</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AN restricting type with MEDICAL INSTABILITY (bradycardia HR 48, amenorrhea, low BMI 16.3). Per APA guidelines, inpatient hospitalization is indicated for: HR &lt;50 bpm, orthostatic hypotension, electrolyte disturbances, or rapid weight loss. She requires medical monitoring during refeeding (to prevent refeeding syndrome) and cardiac monitoring. Fluoxetine is not FDA-approved for AN and is minimally effective in underweight patients.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Q37  |  BN Diagnosis and Treatment</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21-year-old college student presents to student health complaining of fatigue. She appears to have a normal BMI of 22. Her dentist recently noted erosion of tooth enamel on the lingual surfaces of her upper teeth. She reports feeling 'out of control' with eating 2–3 times per week, after which she makes herself vomit. She is deeply ashamed and has not told anyone. She exercises daily and uses laxatives occasionally. Labs show potassium 3.0 mEq/L and elevated serum bicarbonate.</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Q37  |  BN Diagnosis and Treatment</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diagnosis and BEST initial treatment approach?</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binge-purge type; inpatient hospitalization</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Bulimia Nervosa; CBT-E plus consideration of fluoxetine 60 mg/day</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Binge Eating Disorder; lisdexamfetamine</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Major Depressive Disorder with atypical features; start SSRI</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Q37  ANSWER REVEAL  |  BN Diagnosis and Treatment</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diagnosis and BEST initial treatment approach?</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binge-purge type; inpatient hospitalization</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Bulimia Nervosa; CBT-E plus consideration of fluoxetine 60 mg/day</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Binge Eating Disorder; lisdexamfetamine</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Major Depressive Disorder with atypical features; start SSRI</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classic BN: normal weight, recurrent binge-purge cycles (≥1x/week), shame, compensatory behaviors (vomiting, laxatives, exercise), dental erosion (perimylolysis), and lab findings consistent with purging (hypokalemia, metabolic alkalosis). First-line treatment: CBT-E + fluoxetine 60 mg/day (both are first-line and have additive benefit). She does NOT have AN because her weight is normal.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Q38  |  BED Pharmacotherapy</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45-year-old man with a BMI of 35 presents with concerns about eating. He reports eating large amounts of food rapidly 4–5 times per week, feeling disgusted with himself afterward, and experiencing significant distress. He does not vomit or use laxatives. He has tried multiple diets without success. He has comorbid depression and hypertension.</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Q38  |  BED Pharmacotherapy</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appropriate medication to address his eating behavior?</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Fluoxetine 60 mg</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Lisdexamfetamine (Vyvanse) 30–70 mg</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Olanzapine 5 mg</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Naltrexone 50 mg</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Q38  ANSWER REVEAL  |  BED Pharmacotherapy</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appropriate medication to address his eating behavior?</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Fluoxetine 60 mg</a:t>
            </a:r>
          </a:p>
        </p:txBody>
      </p:sp>
      <p:sp>
        <p:nvSpPr>
          <p:cNvPr id="7" name="Rectangle 6"/>
          <p:cNvSpPr/>
          <p:nvPr/>
        </p:nvSpPr>
        <p:spPr>
          <a:xfrm>
            <a:off x="365760" y="342900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1">
                <a:solidFill>
                  <a:srgbClr val="FFFFFF"/>
                </a:solidFill>
              </a:rPr>
              <a:t>✓ B.  Lisdexamfetamine (Vyvanse) 30–70 mg</a:t>
            </a:r>
          </a:p>
        </p:txBody>
      </p:sp>
      <p:sp>
        <p:nvSpPr>
          <p:cNvPr id="9" name="Rectangle 8"/>
          <p:cNvSpPr/>
          <p:nvPr/>
        </p:nvSpPr>
        <p:spPr>
          <a:xfrm>
            <a:off x="365760" y="420624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0">
                <a:solidFill>
                  <a:srgbClr val="FFFFFF"/>
                </a:solidFill>
              </a:rPr>
              <a:t>  C.  Olanzapine 5 mg</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Naltrexone 50 mg</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patient has BED (episodes ≥1x/week, no compensatory behaviors, marked distress). Lisdexamfetamine (Vyvanse) is the ONLY FDA-approved medication for moderate-to-severe BED. It reduces binge frequency. Given his hypertension and cardiovascular risk, the prescriber should carefully monitor blood pressure on a stimulant, but it remains FDA-approved and indicated. CBT-E is first-line psychotherapy.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C9A02C"/>
                </a:solidFill>
              </a:rPr>
              <a:t>CASE VIGNETTE  Q39  |  ARFID Diagnosis</a:t>
            </a:r>
          </a:p>
        </p:txBody>
      </p:sp>
      <p:sp>
        <p:nvSpPr>
          <p:cNvPr id="4" name="Rectangle 3"/>
          <p:cNvSpPr/>
          <p:nvPr/>
        </p:nvSpPr>
        <p:spPr>
          <a:xfrm>
            <a:off x="274320" y="1051560"/>
            <a:ext cx="11640312" cy="5257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43000"/>
            <a:ext cx="11274552" cy="5029200"/>
          </a:xfrm>
          <a:prstGeom prst="rect">
            <a:avLst/>
          </a:prstGeom>
          <a:noFill/>
        </p:spPr>
        <p:txBody>
          <a:bodyPr wrap="square">
            <a:spAutoFit/>
          </a:bodyPr>
          <a:lstStyle/>
          <a:p>
            <a:pPr algn="l"/>
            <a:r>
              <a:rPr sz="1700" b="0">
                <a:solidFill>
                  <a:srgbClr val="FFFFFF"/>
                </a:solidFill>
              </a:rPr>
              <a:t>A 14-year-old boy is brought in because he refuses to eat most foods. He will only eat 5–6 'safe' foods (plain pasta, white bread, apple juice). He has had this pattern since age 3. He has never had a binge episode and does not fear weight gain or express concern about his body shape. He is significantly underweight (BMI &lt; 5th percentile). He has no food allergy. He gags at the sight or smell of most foods.</a:t>
            </a:r>
          </a:p>
        </p:txBody>
      </p:sp>
      <p:sp>
        <p:nvSpPr>
          <p:cNvPr id="6" name="TextBox 5"/>
          <p:cNvSpPr txBox="1"/>
          <p:nvPr/>
        </p:nvSpPr>
        <p:spPr>
          <a:xfrm>
            <a:off x="365760" y="6400800"/>
            <a:ext cx="11457432" cy="365760"/>
          </a:xfrm>
          <a:prstGeom prst="rect">
            <a:avLst/>
          </a:prstGeom>
          <a:noFill/>
        </p:spPr>
        <p:txBody>
          <a:bodyPr wrap="square">
            <a:spAutoFit/>
          </a:bodyPr>
          <a:lstStyle/>
          <a:p>
            <a:pPr algn="ctr"/>
            <a:r>
              <a:rPr sz="1300" b="0">
                <a:solidFill>
                  <a:srgbClr val="0D2B55"/>
                </a:solidFill>
              </a:rPr>
              <a:t>Read the case, then advance to the question.</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Q39  |  ARFID Diagnosis</a:t>
            </a:r>
          </a:p>
        </p:txBody>
      </p:sp>
      <p:sp>
        <p:nvSpPr>
          <p:cNvPr id="4" name="TextBox 3"/>
          <p:cNvSpPr txBox="1"/>
          <p:nvPr/>
        </p:nvSpPr>
        <p:spPr>
          <a:xfrm>
            <a:off x="10360152"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11457432" cy="1463040"/>
          </a:xfrm>
          <a:prstGeom prst="rect">
            <a:avLst/>
          </a:prstGeom>
          <a:noFill/>
        </p:spPr>
        <p:txBody>
          <a:bodyPr wrap="square">
            <a:spAutoFit/>
          </a:bodyPr>
          <a:lstStyle/>
          <a:p>
            <a:pPr algn="l"/>
            <a:r>
              <a:rPr sz="2000" b="1">
                <a:solidFill>
                  <a:srgbClr val="0D2B55"/>
                </a:solidFill>
              </a:rPr>
              <a:t>What is the MOST likely DSM-5 diagnosis?</a:t>
            </a:r>
          </a:p>
        </p:txBody>
      </p:sp>
      <p:sp>
        <p:nvSpPr>
          <p:cNvPr id="6" name="Rectangle 5"/>
          <p:cNvSpPr/>
          <p:nvPr/>
        </p:nvSpPr>
        <p:spPr>
          <a:xfrm>
            <a:off x="365760" y="265176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11183112" cy="548640"/>
          </a:xfrm>
          <a:prstGeom prst="rect">
            <a:avLst/>
          </a:prstGeom>
          <a:noFill/>
        </p:spPr>
        <p:txBody>
          <a:bodyPr wrap="square">
            <a:spAutoFit/>
          </a:bodyPr>
          <a:lstStyle/>
          <a:p>
            <a:pPr algn="l"/>
            <a:r>
              <a:rPr sz="1700" b="0">
                <a:solidFill>
                  <a:srgbClr val="FFFFFF"/>
                </a:solidFill>
              </a:rPr>
              <a:t>A.  Anorexia Nervosa, restricting type</a:t>
            </a:r>
          </a:p>
        </p:txBody>
      </p:sp>
      <p:sp>
        <p:nvSpPr>
          <p:cNvPr id="8" name="Rectangle 7"/>
          <p:cNvSpPr/>
          <p:nvPr/>
        </p:nvSpPr>
        <p:spPr>
          <a:xfrm>
            <a:off x="365760" y="342900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11183112" cy="548640"/>
          </a:xfrm>
          <a:prstGeom prst="rect">
            <a:avLst/>
          </a:prstGeom>
          <a:noFill/>
        </p:spPr>
        <p:txBody>
          <a:bodyPr wrap="square">
            <a:spAutoFit/>
          </a:bodyPr>
          <a:lstStyle/>
          <a:p>
            <a:pPr algn="l"/>
            <a:r>
              <a:rPr sz="1700" b="0">
                <a:solidFill>
                  <a:srgbClr val="FFFFFF"/>
                </a:solidFill>
              </a:rPr>
              <a:t>B.  Specific Phobia, food type</a:t>
            </a:r>
          </a:p>
        </p:txBody>
      </p:sp>
      <p:sp>
        <p:nvSpPr>
          <p:cNvPr id="10" name="Rectangle 9"/>
          <p:cNvSpPr/>
          <p:nvPr/>
        </p:nvSpPr>
        <p:spPr>
          <a:xfrm>
            <a:off x="365760" y="420624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11183112" cy="548640"/>
          </a:xfrm>
          <a:prstGeom prst="rect">
            <a:avLst/>
          </a:prstGeom>
          <a:noFill/>
        </p:spPr>
        <p:txBody>
          <a:bodyPr wrap="square">
            <a:spAutoFit/>
          </a:bodyPr>
          <a:lstStyle/>
          <a:p>
            <a:pPr algn="l"/>
            <a:r>
              <a:rPr sz="1700" b="0">
                <a:solidFill>
                  <a:srgbClr val="FFFFFF"/>
                </a:solidFill>
              </a:rPr>
              <a:t>C.  Avoidant/Restrictive Food Intake Disorder (ARFID)</a:t>
            </a:r>
          </a:p>
        </p:txBody>
      </p:sp>
      <p:sp>
        <p:nvSpPr>
          <p:cNvPr id="12" name="Rectangle 11"/>
          <p:cNvSpPr/>
          <p:nvPr/>
        </p:nvSpPr>
        <p:spPr>
          <a:xfrm>
            <a:off x="365760" y="4983480"/>
            <a:ext cx="11457432"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11183112" cy="548640"/>
          </a:xfrm>
          <a:prstGeom prst="rect">
            <a:avLst/>
          </a:prstGeom>
          <a:noFill/>
        </p:spPr>
        <p:txBody>
          <a:bodyPr wrap="square">
            <a:spAutoFit/>
          </a:bodyPr>
          <a:lstStyle/>
          <a:p>
            <a:pPr algn="l"/>
            <a:r>
              <a:rPr sz="1700" b="0">
                <a:solidFill>
                  <a:srgbClr val="FFFFFF"/>
                </a:solidFill>
              </a:rPr>
              <a:t>D.  Selective mutism with food avoidance</a:t>
            </a:r>
          </a:p>
        </p:txBody>
      </p:sp>
      <p:sp>
        <p:nvSpPr>
          <p:cNvPr id="14" name="TextBox 13"/>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Q39  ANSWER REVEAL  |  ARFID Diagnosis</a:t>
            </a:r>
          </a:p>
        </p:txBody>
      </p:sp>
      <p:sp>
        <p:nvSpPr>
          <p:cNvPr id="4" name="TextBox 3"/>
          <p:cNvSpPr txBox="1"/>
          <p:nvPr/>
        </p:nvSpPr>
        <p:spPr>
          <a:xfrm>
            <a:off x="365760" y="1051560"/>
            <a:ext cx="11457432" cy="1005840"/>
          </a:xfrm>
          <a:prstGeom prst="rect">
            <a:avLst/>
          </a:prstGeom>
          <a:noFill/>
        </p:spPr>
        <p:txBody>
          <a:bodyPr wrap="square">
            <a:spAutoFit/>
          </a:bodyPr>
          <a:lstStyle/>
          <a:p>
            <a:pPr algn="l"/>
            <a:r>
              <a:rPr sz="1600" b="0">
                <a:solidFill>
                  <a:srgbClr val="0D2B55"/>
                </a:solidFill>
              </a:rPr>
              <a:t>What is the MOST likely DSM-5 diagnosis?</a:t>
            </a:r>
          </a:p>
        </p:txBody>
      </p:sp>
      <p:sp>
        <p:nvSpPr>
          <p:cNvPr id="5" name="Rectangle 4"/>
          <p:cNvSpPr/>
          <p:nvPr/>
        </p:nvSpPr>
        <p:spPr>
          <a:xfrm>
            <a:off x="365760" y="265176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11183112" cy="548640"/>
          </a:xfrm>
          <a:prstGeom prst="rect">
            <a:avLst/>
          </a:prstGeom>
          <a:noFill/>
        </p:spPr>
        <p:txBody>
          <a:bodyPr wrap="square">
            <a:spAutoFit/>
          </a:bodyPr>
          <a:lstStyle/>
          <a:p>
            <a:pPr algn="l"/>
            <a:r>
              <a:rPr sz="1700" b="0">
                <a:solidFill>
                  <a:srgbClr val="FFFFFF"/>
                </a:solidFill>
              </a:rPr>
              <a:t>  A.  Anorexia Nervosa, restricting type</a:t>
            </a:r>
          </a:p>
        </p:txBody>
      </p:sp>
      <p:sp>
        <p:nvSpPr>
          <p:cNvPr id="7" name="Rectangle 6"/>
          <p:cNvSpPr/>
          <p:nvPr/>
        </p:nvSpPr>
        <p:spPr>
          <a:xfrm>
            <a:off x="365760" y="342900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11183112" cy="548640"/>
          </a:xfrm>
          <a:prstGeom prst="rect">
            <a:avLst/>
          </a:prstGeom>
          <a:noFill/>
        </p:spPr>
        <p:txBody>
          <a:bodyPr wrap="square">
            <a:spAutoFit/>
          </a:bodyPr>
          <a:lstStyle/>
          <a:p>
            <a:pPr algn="l"/>
            <a:r>
              <a:rPr sz="1700" b="0">
                <a:solidFill>
                  <a:srgbClr val="FFFFFF"/>
                </a:solidFill>
              </a:rPr>
              <a:t>  B.  Specific Phobia, food type</a:t>
            </a:r>
          </a:p>
        </p:txBody>
      </p:sp>
      <p:sp>
        <p:nvSpPr>
          <p:cNvPr id="9" name="Rectangle 8"/>
          <p:cNvSpPr/>
          <p:nvPr/>
        </p:nvSpPr>
        <p:spPr>
          <a:xfrm>
            <a:off x="365760" y="4206240"/>
            <a:ext cx="11457432"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11183112" cy="548640"/>
          </a:xfrm>
          <a:prstGeom prst="rect">
            <a:avLst/>
          </a:prstGeom>
          <a:noFill/>
        </p:spPr>
        <p:txBody>
          <a:bodyPr wrap="square">
            <a:spAutoFit/>
          </a:bodyPr>
          <a:lstStyle/>
          <a:p>
            <a:pPr algn="l"/>
            <a:r>
              <a:rPr sz="1700" b="1">
                <a:solidFill>
                  <a:srgbClr val="FFFFFF"/>
                </a:solidFill>
              </a:rPr>
              <a:t>✓ C.  Avoidant/Restrictive Food Intake Disorder (ARFID)</a:t>
            </a:r>
          </a:p>
        </p:txBody>
      </p:sp>
      <p:sp>
        <p:nvSpPr>
          <p:cNvPr id="11" name="Rectangle 10"/>
          <p:cNvSpPr/>
          <p:nvPr/>
        </p:nvSpPr>
        <p:spPr>
          <a:xfrm>
            <a:off x="365760" y="4983480"/>
            <a:ext cx="11457432"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11183112" cy="548640"/>
          </a:xfrm>
          <a:prstGeom prst="rect">
            <a:avLst/>
          </a:prstGeom>
          <a:noFill/>
        </p:spPr>
        <p:txBody>
          <a:bodyPr wrap="square">
            <a:spAutoFit/>
          </a:bodyPr>
          <a:lstStyle/>
          <a:p>
            <a:pPr algn="l"/>
            <a:r>
              <a:rPr sz="1700" b="0">
                <a:solidFill>
                  <a:srgbClr val="FFFFFF"/>
                </a:solidFill>
              </a:rPr>
              <a:t>  D.  Selective mutism with food avoidance</a:t>
            </a:r>
          </a:p>
        </p:txBody>
      </p:sp>
      <p:sp>
        <p:nvSpPr>
          <p:cNvPr id="13" name="Rectangle 12"/>
          <p:cNvSpPr/>
          <p:nvPr/>
        </p:nvSpPr>
        <p:spPr>
          <a:xfrm>
            <a:off x="320040" y="5166360"/>
            <a:ext cx="11548872"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11274552" cy="1417320"/>
          </a:xfrm>
          <a:prstGeom prst="rect">
            <a:avLst/>
          </a:prstGeom>
          <a:noFill/>
        </p:spPr>
        <p:txBody>
          <a:bodyPr wrap="square">
            <a:spAutoFit/>
          </a:bodyPr>
          <a:lstStyle/>
          <a:p>
            <a:pPr algn="l"/>
            <a:r>
              <a:rPr sz="1400" b="0">
                <a:solidFill>
                  <a:srgbClr val="FFFFFF"/>
                </a:solidFill>
              </a:rPr>
              <a:t>📚  This is a classic presentation of ARFID: avoidance based on sensory characteristics (smell, texture), early childhood onset, no fear of weight gain or body image disturbance, limited food variety, and nutritional/growth impairment. ARFID can be driven by sensory sensitivity (most common), lack of interest in food, or fear of aversive consequences. It differs from AN by the absence of weight/shape concerns.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11274552"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11274552" cy="822960"/>
          </a:xfrm>
          <a:prstGeom prst="rect">
            <a:avLst/>
          </a:prstGeom>
          <a:noFill/>
        </p:spPr>
        <p:txBody>
          <a:bodyPr wrap="square">
            <a:spAutoFit/>
          </a:bodyPr>
          <a:lstStyle/>
          <a:p>
            <a:pPr algn="ctr"/>
            <a:r>
              <a:rPr sz="3400" b="1">
                <a:solidFill>
                  <a:srgbClr val="FFFFFF"/>
                </a:solidFill>
              </a:rPr>
              <a:t>True or False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Q40  |  True or False?  |  DSM-5 Changes – AN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Amenorrhea (absence of menstruation) is a required diagnostic criterion for Anorexia Nervosa in DSM-5.</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Q40  ANSWER REVEAL  |  DSM-5 Changes – AN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Amenorrhea (absence of menstruation) is a required diagnostic criterion for Anorexia Nervosa in DSM-5.</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DSM-5 REMOVED amenorrhea as a required criterion for AN. This change was made because: (1) it excluded males, (2) some women with AN on oral contraceptives have withdrawal bleeds, and (3) some women with AN retain menstrual function despite low weight. Amenorrhea is still a COMMON FINDING in AN but is NOT required.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Q41  |  True or False?  |  BN Presentation</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Patients with Bulimia Nervosa are always underweight.</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Q41  ANSWER REVEAL  |  BN Presentation</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Patients with Bulimia Nervosa are always underweight.</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BN typically occurs at normal or above-normal weight (unlike AN). Being underweight and meeting BN criteria would actually meet criteria for AN binge-purge subtype (if weight is significantly low). This is a common misconception tested on boards.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Q42  |  True or False?  |  CBT-E Indications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Cognitive Behavioral Therapy (CBT-E) is considered the first-line psychotherapy for adults with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Q42  ANSWER REVEAL  |  CBT-E Indications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Cognitive Behavioral Therapy (CBT-E) is considered the first-line psychotherapy for adults with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1A7A4A"/>
                </a:solidFill>
              </a:rPr>
              <a:t>✓  TRUE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CBT-E (enhanced CBT) is the gold-standard first-line psychotherapy for both BN and BED in adults, targeting the core cognitive psychopathology (overvaluation of shape and weight). It also has evidence for AN, though the evidence base for AN is less robust.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Q43  |  True or False?  |  FDA Approvals – Eating Disorders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Lisdexamfetamine (Vyvanse) is FDA-approved for treating both Bulimia Nervosa and Binge Eating Disorder.</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Q43  ANSWER REVEAL  |  FDA Approvals – Eating Disorders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Lisdexamfetamine (Vyvanse) is FDA-approved for treating both Bulimia Nervosa and Binge Eating Disorder.</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Lisdexamfetamine is FDA-approved ONLY for BED (and ADHD). It is NOT approved for BN. For BN, the FDA-approved medication is fluoxetine at 60 mg/day. This distinction is commonly tested.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0">
                <a:solidFill>
                  <a:srgbClr val="C9A02C"/>
                </a:solidFill>
              </a:rPr>
              <a:t>Q44  |  True or False?  |  Refeeding Syndrome – Lab Findings</a:t>
            </a:r>
          </a:p>
        </p:txBody>
      </p:sp>
      <p:sp>
        <p:nvSpPr>
          <p:cNvPr id="4" name="TextBox 3"/>
          <p:cNvSpPr txBox="1"/>
          <p:nvPr/>
        </p:nvSpPr>
        <p:spPr>
          <a:xfrm>
            <a:off x="365760" y="1097280"/>
            <a:ext cx="11457432" cy="1828800"/>
          </a:xfrm>
          <a:prstGeom prst="rect">
            <a:avLst/>
          </a:prstGeom>
          <a:noFill/>
        </p:spPr>
        <p:txBody>
          <a:bodyPr wrap="square">
            <a:spAutoFit/>
          </a:bodyPr>
          <a:lstStyle/>
          <a:p>
            <a:pPr algn="l"/>
            <a:r>
              <a:rPr sz="2200" b="1">
                <a:solidFill>
                  <a:srgbClr val="0D2B55"/>
                </a:solidFill>
              </a:rPr>
              <a:t>Refeeding syndrome in Anorexia Nervosa is primarily characterized by dangerously elevated phosphate levels.</a:t>
            </a:r>
          </a:p>
        </p:txBody>
      </p:sp>
      <p:sp>
        <p:nvSpPr>
          <p:cNvPr id="5" name="Rectangle 4"/>
          <p:cNvSpPr/>
          <p:nvPr/>
        </p:nvSpPr>
        <p:spPr>
          <a:xfrm>
            <a:off x="731520" y="3200400"/>
            <a:ext cx="3291840" cy="100584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3291840" cy="822960"/>
          </a:xfrm>
          <a:prstGeom prst="rect">
            <a:avLst/>
          </a:prstGeom>
          <a:noFill/>
        </p:spPr>
        <p:txBody>
          <a:bodyPr wrap="square">
            <a:spAutoFit/>
          </a:bodyPr>
          <a:lstStyle/>
          <a:p>
            <a:pPr algn="ctr"/>
            <a:r>
              <a:rPr sz="3200" b="1">
                <a:solidFill>
                  <a:srgbClr val="FFFFFF"/>
                </a:solidFill>
              </a:rPr>
              <a:t>TRUE</a:t>
            </a:r>
          </a:p>
        </p:txBody>
      </p:sp>
      <p:sp>
        <p:nvSpPr>
          <p:cNvPr id="7" name="Rectangle 6"/>
          <p:cNvSpPr/>
          <p:nvPr/>
        </p:nvSpPr>
        <p:spPr>
          <a:xfrm>
            <a:off x="5029200" y="3200400"/>
            <a:ext cx="3291840" cy="100584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3291840" cy="822960"/>
          </a:xfrm>
          <a:prstGeom prst="rect">
            <a:avLst/>
          </a:prstGeom>
          <a:noFill/>
        </p:spPr>
        <p:txBody>
          <a:bodyPr wrap="square">
            <a:spAutoFit/>
          </a:bodyPr>
          <a:lstStyle/>
          <a:p>
            <a:pPr algn="ctr"/>
            <a:r>
              <a:rPr sz="3200" b="1">
                <a:solidFill>
                  <a:srgbClr val="FFFFFF"/>
                </a:solidFill>
              </a:rPr>
              <a:t>FALSE</a:t>
            </a:r>
          </a:p>
        </p:txBody>
      </p:sp>
      <p:sp>
        <p:nvSpPr>
          <p:cNvPr id="9" name="TextBox 8"/>
          <p:cNvSpPr txBox="1"/>
          <p:nvPr/>
        </p:nvSpPr>
        <p:spPr>
          <a:xfrm>
            <a:off x="365760" y="6355080"/>
            <a:ext cx="11457432" cy="411480"/>
          </a:xfrm>
          <a:prstGeom prst="rect">
            <a:avLst/>
          </a:prstGeom>
          <a:noFill/>
        </p:spPr>
        <p:txBody>
          <a:bodyPr wrap="square">
            <a:spAutoFit/>
          </a:bodyPr>
          <a:lstStyle/>
          <a:p>
            <a:pPr algn="ctr"/>
            <a:r>
              <a:rPr sz="1300" b="0">
                <a:solidFill>
                  <a:srgbClr val="0D2B55"/>
                </a:solidFill>
              </a:rPr>
              <a:t>⏱  Vote now, then advance to the answer.</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B3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411480"/>
          </a:xfrm>
          <a:prstGeom prst="rect">
            <a:avLst/>
          </a:prstGeom>
          <a:noFill/>
        </p:spPr>
        <p:txBody>
          <a:bodyPr wrap="square">
            <a:spAutoFit/>
          </a:bodyPr>
          <a:lstStyle/>
          <a:p>
            <a:pPr algn="l"/>
            <a:r>
              <a:rPr sz="1400" b="1">
                <a:solidFill>
                  <a:srgbClr val="FFFFFF"/>
                </a:solidFill>
              </a:rPr>
              <a:t>Q44  ANSWER REVEAL  |  Refeeding Syndrome – Lab Findings</a:t>
            </a:r>
          </a:p>
        </p:txBody>
      </p:sp>
      <p:sp>
        <p:nvSpPr>
          <p:cNvPr id="4" name="TextBox 3"/>
          <p:cNvSpPr txBox="1"/>
          <p:nvPr/>
        </p:nvSpPr>
        <p:spPr>
          <a:xfrm>
            <a:off x="365760" y="1097280"/>
            <a:ext cx="11457432" cy="1371600"/>
          </a:xfrm>
          <a:prstGeom prst="rect">
            <a:avLst/>
          </a:prstGeom>
          <a:noFill/>
        </p:spPr>
        <p:txBody>
          <a:bodyPr wrap="square">
            <a:spAutoFit/>
          </a:bodyPr>
          <a:lstStyle/>
          <a:p>
            <a:pPr algn="l"/>
            <a:r>
              <a:rPr sz="1800" b="0">
                <a:solidFill>
                  <a:srgbClr val="0D2B55"/>
                </a:solidFill>
              </a:rPr>
              <a:t>Refeeding syndrome in Anorexia Nervosa is primarily characterized by dangerously elevated phosphate levels.</a:t>
            </a:r>
          </a:p>
        </p:txBody>
      </p:sp>
      <p:sp>
        <p:nvSpPr>
          <p:cNvPr id="5" name="TextBox 4"/>
          <p:cNvSpPr txBox="1"/>
          <p:nvPr/>
        </p:nvSpPr>
        <p:spPr>
          <a:xfrm>
            <a:off x="365760" y="2606040"/>
            <a:ext cx="11457432" cy="685800"/>
          </a:xfrm>
          <a:prstGeom prst="rect">
            <a:avLst/>
          </a:prstGeom>
          <a:noFill/>
        </p:spPr>
        <p:txBody>
          <a:bodyPr wrap="square">
            <a:spAutoFit/>
          </a:bodyPr>
          <a:lstStyle/>
          <a:p>
            <a:pPr algn="ctr"/>
            <a:r>
              <a:rPr sz="3600" b="1">
                <a:solidFill>
                  <a:srgbClr val="B31B1B"/>
                </a:solidFill>
              </a:rPr>
              <a:t>✗  FALSE</a:t>
            </a:r>
          </a:p>
        </p:txBody>
      </p:sp>
      <p:sp>
        <p:nvSpPr>
          <p:cNvPr id="6" name="Rectangle 5"/>
          <p:cNvSpPr/>
          <p:nvPr/>
        </p:nvSpPr>
        <p:spPr>
          <a:xfrm>
            <a:off x="320040" y="4937760"/>
            <a:ext cx="11548872" cy="1737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983481"/>
            <a:ext cx="11274552" cy="1645920"/>
          </a:xfrm>
          <a:prstGeom prst="rect">
            <a:avLst/>
          </a:prstGeom>
          <a:noFill/>
        </p:spPr>
        <p:txBody>
          <a:bodyPr wrap="square">
            <a:spAutoFit/>
          </a:bodyPr>
          <a:lstStyle/>
          <a:p>
            <a:pPr algn="l"/>
            <a:r>
              <a:rPr sz="1400" b="0">
                <a:solidFill>
                  <a:srgbClr val="FFFFFF"/>
                </a:solidFill>
              </a:rPr>
              <a:t>📚  Refeeding syndrome is characterized by HYPOPHOSPHATEMIA (dangerously LOW phosphate), not elevated. When carbohydrates are reintroduced after starvation, insulin release drives phosphate into cells, depleting serum phosphate and impairing ATP production in all organ systems.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11274552"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11274552"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11274552"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11274552"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40312"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11274552"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11274552"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11274552"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