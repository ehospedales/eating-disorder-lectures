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9144000" cy="914400"/>
          </a:xfrm>
          <a:prstGeom prst="rect">
            <a:avLst/>
          </a:prstGeom>
          <a:noFill/>
        </p:spPr>
        <p:txBody>
          <a:bodyPr wrap="none">
            <a:spAutoFit/>
          </a:bodyPr>
          <a:lstStyle/>
          <a:p>
            <a:r>
              <a:t>TEMPLATE_MARKER_SLIDE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0" y="0"/>
            <a:ext cx="9144000"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0"/>
            <a:ext cx="8046720" cy="1645920"/>
          </a:xfrm>
          <a:prstGeom prst="rect">
            <a:avLst/>
          </a:prstGeom>
          <a:noFill/>
        </p:spPr>
        <p:txBody>
          <a:bodyPr wrap="square">
            <a:spAutoFit/>
          </a:bodyPr>
          <a:lstStyle/>
          <a:p>
            <a:pPr algn="ctr"/>
            <a:r>
              <a:rPr sz="4000" b="1">
                <a:solidFill>
                  <a:srgbClr val="FFFFFF"/>
                </a:solidFill>
              </a:rPr>
              <a:t>Eating Disorders – Psychiatry Board Review Quiz Bank</a:t>
            </a:r>
          </a:p>
        </p:txBody>
      </p:sp>
      <p:sp>
        <p:nvSpPr>
          <p:cNvPr id="4" name="TextBox 3"/>
          <p:cNvSpPr txBox="1"/>
          <p:nvPr/>
        </p:nvSpPr>
        <p:spPr>
          <a:xfrm>
            <a:off x="548640" y="3474720"/>
            <a:ext cx="8046720" cy="1097280"/>
          </a:xfrm>
          <a:prstGeom prst="rect">
            <a:avLst/>
          </a:prstGeom>
          <a:noFill/>
        </p:spPr>
        <p:txBody>
          <a:bodyPr wrap="square">
            <a:spAutoFit/>
          </a:bodyPr>
          <a:lstStyle/>
          <a:p>
            <a:pPr algn="ctr"/>
            <a:r>
              <a:rPr sz="2400" b="0">
                <a:solidFill>
                  <a:srgbClr val="C9A02C"/>
                </a:solidFill>
              </a:rPr>
              <a:t>Psychiatry Residency Board Review
2026</a:t>
            </a:r>
          </a:p>
        </p:txBody>
      </p:sp>
      <p:sp>
        <p:nvSpPr>
          <p:cNvPr id="5" name="Rectangle 4"/>
          <p:cNvSpPr/>
          <p:nvPr/>
        </p:nvSpPr>
        <p:spPr>
          <a:xfrm>
            <a:off x="0" y="6748272"/>
            <a:ext cx="9144000" cy="109728"/>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100584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412480" cy="731520"/>
          </a:xfrm>
          <a:prstGeom prst="rect">
            <a:avLst/>
          </a:prstGeom>
          <a:noFill/>
        </p:spPr>
        <p:txBody>
          <a:bodyPr wrap="square">
            <a:spAutoFit/>
          </a:bodyPr>
          <a:lstStyle/>
          <a:p>
            <a:pPr algn="l"/>
            <a:r>
              <a:rPr sz="2800" b="1">
                <a:solidFill>
                  <a:srgbClr val="FFFFFF"/>
                </a:solidFill>
              </a:rPr>
              <a:t>How to Use These Slides</a:t>
            </a:r>
          </a:p>
        </p:txBody>
      </p:sp>
      <p:sp>
        <p:nvSpPr>
          <p:cNvPr id="4" name="TextBox 3"/>
          <p:cNvSpPr txBox="1"/>
          <p:nvPr/>
        </p:nvSpPr>
        <p:spPr>
          <a:xfrm>
            <a:off x="640080" y="1280160"/>
            <a:ext cx="8046720" cy="685800"/>
          </a:xfrm>
          <a:prstGeom prst="rect">
            <a:avLst/>
          </a:prstGeom>
          <a:noFill/>
        </p:spPr>
        <p:txBody>
          <a:bodyPr wrap="square">
            <a:spAutoFit/>
          </a:bodyPr>
          <a:lstStyle/>
          <a:p>
            <a:pPr algn="l"/>
            <a:r>
              <a:rPr sz="1800" b="0">
                <a:solidFill>
                  <a:srgbClr val="0D2B55"/>
                </a:solidFill>
              </a:rPr>
              <a:t>▸  Each question slide shows the stem and answer choices.</a:t>
            </a:r>
          </a:p>
        </p:txBody>
      </p:sp>
      <p:sp>
        <p:nvSpPr>
          <p:cNvPr id="5" name="TextBox 4"/>
          <p:cNvSpPr txBox="1"/>
          <p:nvPr/>
        </p:nvSpPr>
        <p:spPr>
          <a:xfrm>
            <a:off x="640080" y="2057400"/>
            <a:ext cx="8046720" cy="685800"/>
          </a:xfrm>
          <a:prstGeom prst="rect">
            <a:avLst/>
          </a:prstGeom>
          <a:noFill/>
        </p:spPr>
        <p:txBody>
          <a:bodyPr wrap="square">
            <a:spAutoFit/>
          </a:bodyPr>
          <a:lstStyle/>
          <a:p>
            <a:pPr algn="l"/>
            <a:r>
              <a:rPr sz="1800" b="0">
                <a:solidFill>
                  <a:srgbClr val="0D2B55"/>
                </a:solidFill>
              </a:rPr>
              <a:t>▸  Allow the audience to discuss or vote before clicking to advance.</a:t>
            </a:r>
          </a:p>
        </p:txBody>
      </p:sp>
      <p:sp>
        <p:nvSpPr>
          <p:cNvPr id="6" name="TextBox 5"/>
          <p:cNvSpPr txBox="1"/>
          <p:nvPr/>
        </p:nvSpPr>
        <p:spPr>
          <a:xfrm>
            <a:off x="640080" y="2834640"/>
            <a:ext cx="8046720" cy="685800"/>
          </a:xfrm>
          <a:prstGeom prst="rect">
            <a:avLst/>
          </a:prstGeom>
          <a:noFill/>
        </p:spPr>
        <p:txBody>
          <a:bodyPr wrap="square">
            <a:spAutoFit/>
          </a:bodyPr>
          <a:lstStyle/>
          <a:p>
            <a:pPr algn="l"/>
            <a:r>
              <a:rPr sz="1800" b="0">
                <a:solidFill>
                  <a:srgbClr val="0D2B55"/>
                </a:solidFill>
              </a:rPr>
              <a:t>▸  The NEXT slide reveals the correct answer with explanation.</a:t>
            </a:r>
          </a:p>
        </p:txBody>
      </p:sp>
      <p:sp>
        <p:nvSpPr>
          <p:cNvPr id="7" name="TextBox 6"/>
          <p:cNvSpPr txBox="1"/>
          <p:nvPr/>
        </p:nvSpPr>
        <p:spPr>
          <a:xfrm>
            <a:off x="640080" y="3611880"/>
            <a:ext cx="8046720" cy="685800"/>
          </a:xfrm>
          <a:prstGeom prst="rect">
            <a:avLst/>
          </a:prstGeom>
          <a:noFill/>
        </p:spPr>
        <p:txBody>
          <a:bodyPr wrap="square">
            <a:spAutoFit/>
          </a:bodyPr>
          <a:lstStyle/>
          <a:p>
            <a:pPr algn="l"/>
            <a:r>
              <a:rPr sz="1800" b="0">
                <a:solidFill>
                  <a:srgbClr val="0D2B55"/>
                </a:solidFill>
              </a:rPr>
              <a:t>▸  Tip: Use PowerPoint Presenter View to see notes while presenting.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2B55"/>
        </a:solidFill>
        <a:effectLst/>
      </p:bgPr>
    </p:bg>
    <p:spTree>
      <p:nvGrpSpPr>
        <p:cNvPr id="1" name=""/>
        <p:cNvGrpSpPr/>
        <p:nvPr/>
      </p:nvGrpSpPr>
      <p:grpSpPr/>
      <p:sp>
        <p:nvSpPr>
          <p:cNvPr id="2" name="Rectangle 1"/>
          <p:cNvSpPr/>
          <p:nvPr/>
        </p:nvSpPr>
        <p:spPr>
          <a:xfrm>
            <a:off x="457200" y="3374136"/>
            <a:ext cx="8229600" cy="54864"/>
          </a:xfrm>
          <a:prstGeom prst="rect">
            <a:avLst/>
          </a:prstGeom>
          <a:solidFill>
            <a:srgbClr val="C9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14600"/>
            <a:ext cx="8229600" cy="822960"/>
          </a:xfrm>
          <a:prstGeom prst="rect">
            <a:avLst/>
          </a:prstGeom>
          <a:noFill/>
        </p:spPr>
        <p:txBody>
          <a:bodyPr wrap="square">
            <a:spAutoFit/>
          </a:bodyPr>
          <a:lstStyle/>
          <a:p>
            <a:pPr algn="ctr"/>
            <a:r>
              <a:rPr sz="3400" b="1">
                <a:solidFill>
                  <a:srgbClr val="FFFFFF"/>
                </a:solidFill>
              </a:rPr>
              <a:t>Treatment – Pharmacotherapy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0">
                <a:solidFill>
                  <a:srgbClr val="C9A02C"/>
                </a:solidFill>
              </a:rPr>
              <a:t>Q1  |  FDA-Approved Tx – BED</a:t>
            </a:r>
          </a:p>
        </p:txBody>
      </p:sp>
      <p:sp>
        <p:nvSpPr>
          <p:cNvPr id="4" name="TextBox 3"/>
          <p:cNvSpPr txBox="1"/>
          <p:nvPr/>
        </p:nvSpPr>
        <p:spPr>
          <a:xfrm>
            <a:off x="7315200"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8412480" cy="1463040"/>
          </a:xfrm>
          <a:prstGeom prst="rect">
            <a:avLst/>
          </a:prstGeom>
          <a:noFill/>
        </p:spPr>
        <p:txBody>
          <a:bodyPr wrap="square">
            <a:spAutoFit/>
          </a:bodyPr>
          <a:lstStyle/>
          <a:p>
            <a:pPr algn="l"/>
            <a:r>
              <a:rPr sz="2000" b="1">
                <a:solidFill>
                  <a:srgbClr val="0D2B55"/>
                </a:solidFill>
              </a:rPr>
              <a:t>Which medication is FDA-approved for Binge Eating Disorder?</a:t>
            </a:r>
          </a:p>
        </p:txBody>
      </p:sp>
      <p:sp>
        <p:nvSpPr>
          <p:cNvPr id="6" name="Rectangle 5"/>
          <p:cNvSpPr/>
          <p:nvPr/>
        </p:nvSpPr>
        <p:spPr>
          <a:xfrm>
            <a:off x="365760" y="265176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8138160" cy="548640"/>
          </a:xfrm>
          <a:prstGeom prst="rect">
            <a:avLst/>
          </a:prstGeom>
          <a:noFill/>
        </p:spPr>
        <p:txBody>
          <a:bodyPr wrap="square">
            <a:spAutoFit/>
          </a:bodyPr>
          <a:lstStyle/>
          <a:p>
            <a:pPr algn="l"/>
            <a:r>
              <a:rPr sz="1700" b="0">
                <a:solidFill>
                  <a:srgbClr val="FFFFFF"/>
                </a:solidFill>
              </a:rPr>
              <a:t>A.  Fluoxetine</a:t>
            </a:r>
          </a:p>
        </p:txBody>
      </p:sp>
      <p:sp>
        <p:nvSpPr>
          <p:cNvPr id="8" name="Rectangle 7"/>
          <p:cNvSpPr/>
          <p:nvPr/>
        </p:nvSpPr>
        <p:spPr>
          <a:xfrm>
            <a:off x="365760" y="342900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8138160" cy="548640"/>
          </a:xfrm>
          <a:prstGeom prst="rect">
            <a:avLst/>
          </a:prstGeom>
          <a:noFill/>
        </p:spPr>
        <p:txBody>
          <a:bodyPr wrap="square">
            <a:spAutoFit/>
          </a:bodyPr>
          <a:lstStyle/>
          <a:p>
            <a:pPr algn="l"/>
            <a:r>
              <a:rPr sz="1700" b="0">
                <a:solidFill>
                  <a:srgbClr val="FFFFFF"/>
                </a:solidFill>
              </a:rPr>
              <a:t>B.  Lisdexamfetamine (Vyvanse)</a:t>
            </a:r>
          </a:p>
        </p:txBody>
      </p:sp>
      <p:sp>
        <p:nvSpPr>
          <p:cNvPr id="10" name="Rectangle 9"/>
          <p:cNvSpPr/>
          <p:nvPr/>
        </p:nvSpPr>
        <p:spPr>
          <a:xfrm>
            <a:off x="365760" y="420624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8138160" cy="548640"/>
          </a:xfrm>
          <a:prstGeom prst="rect">
            <a:avLst/>
          </a:prstGeom>
          <a:noFill/>
        </p:spPr>
        <p:txBody>
          <a:bodyPr wrap="square">
            <a:spAutoFit/>
          </a:bodyPr>
          <a:lstStyle/>
          <a:p>
            <a:pPr algn="l"/>
            <a:r>
              <a:rPr sz="1700" b="0">
                <a:solidFill>
                  <a:srgbClr val="FFFFFF"/>
                </a:solidFill>
              </a:rPr>
              <a:t>C.  Topiramate</a:t>
            </a:r>
          </a:p>
        </p:txBody>
      </p:sp>
      <p:sp>
        <p:nvSpPr>
          <p:cNvPr id="12" name="Rectangle 11"/>
          <p:cNvSpPr/>
          <p:nvPr/>
        </p:nvSpPr>
        <p:spPr>
          <a:xfrm>
            <a:off x="365760" y="498348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8138160" cy="548640"/>
          </a:xfrm>
          <a:prstGeom prst="rect">
            <a:avLst/>
          </a:prstGeom>
          <a:noFill/>
        </p:spPr>
        <p:txBody>
          <a:bodyPr wrap="square">
            <a:spAutoFit/>
          </a:bodyPr>
          <a:lstStyle/>
          <a:p>
            <a:pPr algn="l"/>
            <a:r>
              <a:rPr sz="1700" b="0">
                <a:solidFill>
                  <a:srgbClr val="FFFFFF"/>
                </a:solidFill>
              </a:rPr>
              <a:t>D.  Naltrexone</a:t>
            </a:r>
          </a:p>
        </p:txBody>
      </p:sp>
      <p:sp>
        <p:nvSpPr>
          <p:cNvPr id="14" name="TextBox 13"/>
          <p:cNvSpPr txBox="1"/>
          <p:nvPr/>
        </p:nvSpPr>
        <p:spPr>
          <a:xfrm>
            <a:off x="365760" y="6355080"/>
            <a:ext cx="8412480"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1">
                <a:solidFill>
                  <a:srgbClr val="FFFFFF"/>
                </a:solidFill>
              </a:rPr>
              <a:t>Q1  ANSWER REVEAL  |  FDA-Approved Tx – BED</a:t>
            </a:r>
          </a:p>
        </p:txBody>
      </p:sp>
      <p:sp>
        <p:nvSpPr>
          <p:cNvPr id="4" name="TextBox 3"/>
          <p:cNvSpPr txBox="1"/>
          <p:nvPr/>
        </p:nvSpPr>
        <p:spPr>
          <a:xfrm>
            <a:off x="365760" y="1051560"/>
            <a:ext cx="8412480" cy="1005840"/>
          </a:xfrm>
          <a:prstGeom prst="rect">
            <a:avLst/>
          </a:prstGeom>
          <a:noFill/>
        </p:spPr>
        <p:txBody>
          <a:bodyPr wrap="square">
            <a:spAutoFit/>
          </a:bodyPr>
          <a:lstStyle/>
          <a:p>
            <a:pPr algn="l"/>
            <a:r>
              <a:rPr sz="1600" b="0">
                <a:solidFill>
                  <a:srgbClr val="0D2B55"/>
                </a:solidFill>
              </a:rPr>
              <a:t>Which medication is FDA-approved for Binge Eating Disorder?</a:t>
            </a:r>
          </a:p>
        </p:txBody>
      </p:sp>
      <p:sp>
        <p:nvSpPr>
          <p:cNvPr id="5" name="Rectangle 4"/>
          <p:cNvSpPr/>
          <p:nvPr/>
        </p:nvSpPr>
        <p:spPr>
          <a:xfrm>
            <a:off x="365760" y="265176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8138160" cy="548640"/>
          </a:xfrm>
          <a:prstGeom prst="rect">
            <a:avLst/>
          </a:prstGeom>
          <a:noFill/>
        </p:spPr>
        <p:txBody>
          <a:bodyPr wrap="square">
            <a:spAutoFit/>
          </a:bodyPr>
          <a:lstStyle/>
          <a:p>
            <a:pPr algn="l"/>
            <a:r>
              <a:rPr sz="1700" b="0">
                <a:solidFill>
                  <a:srgbClr val="FFFFFF"/>
                </a:solidFill>
              </a:rPr>
              <a:t>  A.  Fluoxetine</a:t>
            </a:r>
          </a:p>
        </p:txBody>
      </p:sp>
      <p:sp>
        <p:nvSpPr>
          <p:cNvPr id="7" name="Rectangle 6"/>
          <p:cNvSpPr/>
          <p:nvPr/>
        </p:nvSpPr>
        <p:spPr>
          <a:xfrm>
            <a:off x="365760" y="3429000"/>
            <a:ext cx="8412480"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8138160" cy="548640"/>
          </a:xfrm>
          <a:prstGeom prst="rect">
            <a:avLst/>
          </a:prstGeom>
          <a:noFill/>
        </p:spPr>
        <p:txBody>
          <a:bodyPr wrap="square">
            <a:spAutoFit/>
          </a:bodyPr>
          <a:lstStyle/>
          <a:p>
            <a:pPr algn="l"/>
            <a:r>
              <a:rPr sz="1700" b="1">
                <a:solidFill>
                  <a:srgbClr val="FFFFFF"/>
                </a:solidFill>
              </a:rPr>
              <a:t>✓ B.  Lisdexamfetamine (Vyvanse)</a:t>
            </a:r>
          </a:p>
        </p:txBody>
      </p:sp>
      <p:sp>
        <p:nvSpPr>
          <p:cNvPr id="9" name="Rectangle 8"/>
          <p:cNvSpPr/>
          <p:nvPr/>
        </p:nvSpPr>
        <p:spPr>
          <a:xfrm>
            <a:off x="365760" y="420624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8138160" cy="548640"/>
          </a:xfrm>
          <a:prstGeom prst="rect">
            <a:avLst/>
          </a:prstGeom>
          <a:noFill/>
        </p:spPr>
        <p:txBody>
          <a:bodyPr wrap="square">
            <a:spAutoFit/>
          </a:bodyPr>
          <a:lstStyle/>
          <a:p>
            <a:pPr algn="l"/>
            <a:r>
              <a:rPr sz="1700" b="0">
                <a:solidFill>
                  <a:srgbClr val="FFFFFF"/>
                </a:solidFill>
              </a:rPr>
              <a:t>  C.  Topiramate</a:t>
            </a:r>
          </a:p>
        </p:txBody>
      </p:sp>
      <p:sp>
        <p:nvSpPr>
          <p:cNvPr id="11" name="Rectangle 10"/>
          <p:cNvSpPr/>
          <p:nvPr/>
        </p:nvSpPr>
        <p:spPr>
          <a:xfrm>
            <a:off x="365760" y="498348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8138160" cy="548640"/>
          </a:xfrm>
          <a:prstGeom prst="rect">
            <a:avLst/>
          </a:prstGeom>
          <a:noFill/>
        </p:spPr>
        <p:txBody>
          <a:bodyPr wrap="square">
            <a:spAutoFit/>
          </a:bodyPr>
          <a:lstStyle/>
          <a:p>
            <a:pPr algn="l"/>
            <a:r>
              <a:rPr sz="1700" b="0">
                <a:solidFill>
                  <a:srgbClr val="FFFFFF"/>
                </a:solidFill>
              </a:rPr>
              <a:t>  D.  Naltrexone</a:t>
            </a:r>
          </a:p>
        </p:txBody>
      </p:sp>
      <p:sp>
        <p:nvSpPr>
          <p:cNvPr id="13" name="Rectangle 12"/>
          <p:cNvSpPr/>
          <p:nvPr/>
        </p:nvSpPr>
        <p:spPr>
          <a:xfrm>
            <a:off x="320040" y="5166360"/>
            <a:ext cx="8503920"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8229600" cy="1417320"/>
          </a:xfrm>
          <a:prstGeom prst="rect">
            <a:avLst/>
          </a:prstGeom>
          <a:noFill/>
        </p:spPr>
        <p:txBody>
          <a:bodyPr wrap="square">
            <a:spAutoFit/>
          </a:bodyPr>
          <a:lstStyle/>
          <a:p>
            <a:pPr algn="l"/>
            <a:r>
              <a:rPr sz="1400" b="0">
                <a:solidFill>
                  <a:srgbClr val="FFFFFF"/>
                </a:solidFill>
              </a:rPr>
              <a:t>📚  Lisdexamfetamine (Vyvanse) is the ONLY FDA-approved medication for moderate-to-severe Binge Eating Disorder in adults (approved 2015). It is a CNS stimulant (prodrug of dextroamphetamine). It is contraindicated in patients with cardiovascular disease and carries a risk of dependence. Fluoxetine is FDA-approved for BN, not BED.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0">
                <a:solidFill>
                  <a:srgbClr val="C9A02C"/>
                </a:solidFill>
              </a:rPr>
              <a:t>Q2  |  FDA-Approved Tx – BN</a:t>
            </a:r>
          </a:p>
        </p:txBody>
      </p:sp>
      <p:sp>
        <p:nvSpPr>
          <p:cNvPr id="4" name="TextBox 3"/>
          <p:cNvSpPr txBox="1"/>
          <p:nvPr/>
        </p:nvSpPr>
        <p:spPr>
          <a:xfrm>
            <a:off x="7315200"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8412480" cy="1463040"/>
          </a:xfrm>
          <a:prstGeom prst="rect">
            <a:avLst/>
          </a:prstGeom>
          <a:noFill/>
        </p:spPr>
        <p:txBody>
          <a:bodyPr wrap="square">
            <a:spAutoFit/>
          </a:bodyPr>
          <a:lstStyle/>
          <a:p>
            <a:pPr algn="l"/>
            <a:r>
              <a:rPr sz="2000" b="1">
                <a:solidFill>
                  <a:srgbClr val="0D2B55"/>
                </a:solidFill>
              </a:rPr>
              <a:t>Which medication is FDA-approved for Bulimia Nervosa?</a:t>
            </a:r>
          </a:p>
        </p:txBody>
      </p:sp>
      <p:sp>
        <p:nvSpPr>
          <p:cNvPr id="6" name="Rectangle 5"/>
          <p:cNvSpPr/>
          <p:nvPr/>
        </p:nvSpPr>
        <p:spPr>
          <a:xfrm>
            <a:off x="365760" y="265176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8138160" cy="548640"/>
          </a:xfrm>
          <a:prstGeom prst="rect">
            <a:avLst/>
          </a:prstGeom>
          <a:noFill/>
        </p:spPr>
        <p:txBody>
          <a:bodyPr wrap="square">
            <a:spAutoFit/>
          </a:bodyPr>
          <a:lstStyle/>
          <a:p>
            <a:pPr algn="l"/>
            <a:r>
              <a:rPr sz="1700" b="0">
                <a:solidFill>
                  <a:srgbClr val="FFFFFF"/>
                </a:solidFill>
              </a:rPr>
              <a:t>A.  Sertraline</a:t>
            </a:r>
          </a:p>
        </p:txBody>
      </p:sp>
      <p:sp>
        <p:nvSpPr>
          <p:cNvPr id="8" name="Rectangle 7"/>
          <p:cNvSpPr/>
          <p:nvPr/>
        </p:nvSpPr>
        <p:spPr>
          <a:xfrm>
            <a:off x="365760" y="342900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8138160" cy="548640"/>
          </a:xfrm>
          <a:prstGeom prst="rect">
            <a:avLst/>
          </a:prstGeom>
          <a:noFill/>
        </p:spPr>
        <p:txBody>
          <a:bodyPr wrap="square">
            <a:spAutoFit/>
          </a:bodyPr>
          <a:lstStyle/>
          <a:p>
            <a:pPr algn="l"/>
            <a:r>
              <a:rPr sz="1700" b="0">
                <a:solidFill>
                  <a:srgbClr val="FFFFFF"/>
                </a:solidFill>
              </a:rPr>
              <a:t>B.  Fluoxetine (Prozac) at 60 mg/day</a:t>
            </a:r>
          </a:p>
        </p:txBody>
      </p:sp>
      <p:sp>
        <p:nvSpPr>
          <p:cNvPr id="10" name="Rectangle 9"/>
          <p:cNvSpPr/>
          <p:nvPr/>
        </p:nvSpPr>
        <p:spPr>
          <a:xfrm>
            <a:off x="365760" y="420624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8138160" cy="548640"/>
          </a:xfrm>
          <a:prstGeom prst="rect">
            <a:avLst/>
          </a:prstGeom>
          <a:noFill/>
        </p:spPr>
        <p:txBody>
          <a:bodyPr wrap="square">
            <a:spAutoFit/>
          </a:bodyPr>
          <a:lstStyle/>
          <a:p>
            <a:pPr algn="l"/>
            <a:r>
              <a:rPr sz="1700" b="0">
                <a:solidFill>
                  <a:srgbClr val="FFFFFF"/>
                </a:solidFill>
              </a:rPr>
              <a:t>C.  Bupropion</a:t>
            </a:r>
          </a:p>
        </p:txBody>
      </p:sp>
      <p:sp>
        <p:nvSpPr>
          <p:cNvPr id="12" name="Rectangle 11"/>
          <p:cNvSpPr/>
          <p:nvPr/>
        </p:nvSpPr>
        <p:spPr>
          <a:xfrm>
            <a:off x="365760" y="498348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8138160" cy="548640"/>
          </a:xfrm>
          <a:prstGeom prst="rect">
            <a:avLst/>
          </a:prstGeom>
          <a:noFill/>
        </p:spPr>
        <p:txBody>
          <a:bodyPr wrap="square">
            <a:spAutoFit/>
          </a:bodyPr>
          <a:lstStyle/>
          <a:p>
            <a:pPr algn="l"/>
            <a:r>
              <a:rPr sz="1700" b="0">
                <a:solidFill>
                  <a:srgbClr val="FFFFFF"/>
                </a:solidFill>
              </a:rPr>
              <a:t>D.  Olanzapine</a:t>
            </a:r>
          </a:p>
        </p:txBody>
      </p:sp>
      <p:sp>
        <p:nvSpPr>
          <p:cNvPr id="14" name="TextBox 13"/>
          <p:cNvSpPr txBox="1"/>
          <p:nvPr/>
        </p:nvSpPr>
        <p:spPr>
          <a:xfrm>
            <a:off x="365760" y="6355080"/>
            <a:ext cx="8412480"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1">
                <a:solidFill>
                  <a:srgbClr val="FFFFFF"/>
                </a:solidFill>
              </a:rPr>
              <a:t>Q2  ANSWER REVEAL  |  FDA-Approved Tx – BN</a:t>
            </a:r>
          </a:p>
        </p:txBody>
      </p:sp>
      <p:sp>
        <p:nvSpPr>
          <p:cNvPr id="4" name="TextBox 3"/>
          <p:cNvSpPr txBox="1"/>
          <p:nvPr/>
        </p:nvSpPr>
        <p:spPr>
          <a:xfrm>
            <a:off x="365760" y="1051560"/>
            <a:ext cx="8412480" cy="1005840"/>
          </a:xfrm>
          <a:prstGeom prst="rect">
            <a:avLst/>
          </a:prstGeom>
          <a:noFill/>
        </p:spPr>
        <p:txBody>
          <a:bodyPr wrap="square">
            <a:spAutoFit/>
          </a:bodyPr>
          <a:lstStyle/>
          <a:p>
            <a:pPr algn="l"/>
            <a:r>
              <a:rPr sz="1600" b="0">
                <a:solidFill>
                  <a:srgbClr val="0D2B55"/>
                </a:solidFill>
              </a:rPr>
              <a:t>Which medication is FDA-approved for Bulimia Nervosa?</a:t>
            </a:r>
          </a:p>
        </p:txBody>
      </p:sp>
      <p:sp>
        <p:nvSpPr>
          <p:cNvPr id="5" name="Rectangle 4"/>
          <p:cNvSpPr/>
          <p:nvPr/>
        </p:nvSpPr>
        <p:spPr>
          <a:xfrm>
            <a:off x="365760" y="265176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8138160" cy="548640"/>
          </a:xfrm>
          <a:prstGeom prst="rect">
            <a:avLst/>
          </a:prstGeom>
          <a:noFill/>
        </p:spPr>
        <p:txBody>
          <a:bodyPr wrap="square">
            <a:spAutoFit/>
          </a:bodyPr>
          <a:lstStyle/>
          <a:p>
            <a:pPr algn="l"/>
            <a:r>
              <a:rPr sz="1700" b="0">
                <a:solidFill>
                  <a:srgbClr val="FFFFFF"/>
                </a:solidFill>
              </a:rPr>
              <a:t>  A.  Sertraline</a:t>
            </a:r>
          </a:p>
        </p:txBody>
      </p:sp>
      <p:sp>
        <p:nvSpPr>
          <p:cNvPr id="7" name="Rectangle 6"/>
          <p:cNvSpPr/>
          <p:nvPr/>
        </p:nvSpPr>
        <p:spPr>
          <a:xfrm>
            <a:off x="365760" y="3429000"/>
            <a:ext cx="8412480"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8138160" cy="548640"/>
          </a:xfrm>
          <a:prstGeom prst="rect">
            <a:avLst/>
          </a:prstGeom>
          <a:noFill/>
        </p:spPr>
        <p:txBody>
          <a:bodyPr wrap="square">
            <a:spAutoFit/>
          </a:bodyPr>
          <a:lstStyle/>
          <a:p>
            <a:pPr algn="l"/>
            <a:r>
              <a:rPr sz="1700" b="1">
                <a:solidFill>
                  <a:srgbClr val="FFFFFF"/>
                </a:solidFill>
              </a:rPr>
              <a:t>✓ B.  Fluoxetine (Prozac) at 60 mg/day</a:t>
            </a:r>
          </a:p>
        </p:txBody>
      </p:sp>
      <p:sp>
        <p:nvSpPr>
          <p:cNvPr id="9" name="Rectangle 8"/>
          <p:cNvSpPr/>
          <p:nvPr/>
        </p:nvSpPr>
        <p:spPr>
          <a:xfrm>
            <a:off x="365760" y="420624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8138160" cy="548640"/>
          </a:xfrm>
          <a:prstGeom prst="rect">
            <a:avLst/>
          </a:prstGeom>
          <a:noFill/>
        </p:spPr>
        <p:txBody>
          <a:bodyPr wrap="square">
            <a:spAutoFit/>
          </a:bodyPr>
          <a:lstStyle/>
          <a:p>
            <a:pPr algn="l"/>
            <a:r>
              <a:rPr sz="1700" b="0">
                <a:solidFill>
                  <a:srgbClr val="FFFFFF"/>
                </a:solidFill>
              </a:rPr>
              <a:t>  C.  Bupropion</a:t>
            </a:r>
          </a:p>
        </p:txBody>
      </p:sp>
      <p:sp>
        <p:nvSpPr>
          <p:cNvPr id="11" name="Rectangle 10"/>
          <p:cNvSpPr/>
          <p:nvPr/>
        </p:nvSpPr>
        <p:spPr>
          <a:xfrm>
            <a:off x="365760" y="498348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8138160" cy="548640"/>
          </a:xfrm>
          <a:prstGeom prst="rect">
            <a:avLst/>
          </a:prstGeom>
          <a:noFill/>
        </p:spPr>
        <p:txBody>
          <a:bodyPr wrap="square">
            <a:spAutoFit/>
          </a:bodyPr>
          <a:lstStyle/>
          <a:p>
            <a:pPr algn="l"/>
            <a:r>
              <a:rPr sz="1700" b="0">
                <a:solidFill>
                  <a:srgbClr val="FFFFFF"/>
                </a:solidFill>
              </a:rPr>
              <a:t>  D.  Olanzapine</a:t>
            </a:r>
          </a:p>
        </p:txBody>
      </p:sp>
      <p:sp>
        <p:nvSpPr>
          <p:cNvPr id="13" name="Rectangle 12"/>
          <p:cNvSpPr/>
          <p:nvPr/>
        </p:nvSpPr>
        <p:spPr>
          <a:xfrm>
            <a:off x="320040" y="5166360"/>
            <a:ext cx="8503920"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8229600" cy="1417320"/>
          </a:xfrm>
          <a:prstGeom prst="rect">
            <a:avLst/>
          </a:prstGeom>
          <a:noFill/>
        </p:spPr>
        <p:txBody>
          <a:bodyPr wrap="square">
            <a:spAutoFit/>
          </a:bodyPr>
          <a:lstStyle/>
          <a:p>
            <a:pPr algn="l"/>
            <a:r>
              <a:rPr sz="1400" b="0">
                <a:solidFill>
                  <a:srgbClr val="FFFFFF"/>
                </a:solidFill>
              </a:rPr>
              <a:t>📚  Fluoxetine at 60 mg/day (higher than the typical antidepressant dose) is the ONLY FDA-approved medication for Bulimia Nervosa. Note: BUPROPION is CONTRAINDICATED in BN due to a significantly increased seizure risk in this population (electrolyte disturbances lower seizure threshold).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0">
                <a:solidFill>
                  <a:srgbClr val="C9A02C"/>
                </a:solidFill>
              </a:rPr>
              <a:t>Q3  |  Contraindicated Medications – BN</a:t>
            </a:r>
          </a:p>
        </p:txBody>
      </p:sp>
      <p:sp>
        <p:nvSpPr>
          <p:cNvPr id="4" name="TextBox 3"/>
          <p:cNvSpPr txBox="1"/>
          <p:nvPr/>
        </p:nvSpPr>
        <p:spPr>
          <a:xfrm>
            <a:off x="7315200" y="91440"/>
            <a:ext cx="1645920" cy="411480"/>
          </a:xfrm>
          <a:prstGeom prst="rect">
            <a:avLst/>
          </a:prstGeom>
          <a:noFill/>
        </p:spPr>
        <p:txBody>
          <a:bodyPr wrap="square">
            <a:spAutoFit/>
          </a:bodyPr>
          <a:lstStyle/>
          <a:p>
            <a:pPr algn="r"/>
            <a:r>
              <a:rPr sz="1300" b="0">
                <a:solidFill>
                  <a:srgbClr val="F2F4F8"/>
                </a:solidFill>
              </a:rPr>
              <a:t>Difficulty: EASY</a:t>
            </a:r>
          </a:p>
        </p:txBody>
      </p:sp>
      <p:sp>
        <p:nvSpPr>
          <p:cNvPr id="5" name="TextBox 4"/>
          <p:cNvSpPr txBox="1"/>
          <p:nvPr/>
        </p:nvSpPr>
        <p:spPr>
          <a:xfrm>
            <a:off x="365760" y="1051560"/>
            <a:ext cx="8412480" cy="1463040"/>
          </a:xfrm>
          <a:prstGeom prst="rect">
            <a:avLst/>
          </a:prstGeom>
          <a:noFill/>
        </p:spPr>
        <p:txBody>
          <a:bodyPr wrap="square">
            <a:spAutoFit/>
          </a:bodyPr>
          <a:lstStyle/>
          <a:p>
            <a:pPr algn="l"/>
            <a:r>
              <a:rPr sz="2000" b="1">
                <a:solidFill>
                  <a:srgbClr val="0D2B55"/>
                </a:solidFill>
              </a:rPr>
              <a:t>Bupropion is CONTRAINDICATED in which eating disorder and why?</a:t>
            </a:r>
          </a:p>
        </p:txBody>
      </p:sp>
      <p:sp>
        <p:nvSpPr>
          <p:cNvPr id="6" name="Rectangle 5"/>
          <p:cNvSpPr/>
          <p:nvPr/>
        </p:nvSpPr>
        <p:spPr>
          <a:xfrm>
            <a:off x="365760" y="265176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8138160" cy="548640"/>
          </a:xfrm>
          <a:prstGeom prst="rect">
            <a:avLst/>
          </a:prstGeom>
          <a:noFill/>
        </p:spPr>
        <p:txBody>
          <a:bodyPr wrap="square">
            <a:spAutoFit/>
          </a:bodyPr>
          <a:lstStyle/>
          <a:p>
            <a:pPr algn="l"/>
            <a:r>
              <a:rPr sz="1700" b="0">
                <a:solidFill>
                  <a:srgbClr val="FFFFFF"/>
                </a:solidFill>
              </a:rPr>
              <a:t>A.  ARFID, because it suppresses appetite excessively</a:t>
            </a:r>
          </a:p>
        </p:txBody>
      </p:sp>
      <p:sp>
        <p:nvSpPr>
          <p:cNvPr id="8" name="Rectangle 7"/>
          <p:cNvSpPr/>
          <p:nvPr/>
        </p:nvSpPr>
        <p:spPr>
          <a:xfrm>
            <a:off x="365760" y="342900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8138160" cy="548640"/>
          </a:xfrm>
          <a:prstGeom prst="rect">
            <a:avLst/>
          </a:prstGeom>
          <a:noFill/>
        </p:spPr>
        <p:txBody>
          <a:bodyPr wrap="square">
            <a:spAutoFit/>
          </a:bodyPr>
          <a:lstStyle/>
          <a:p>
            <a:pPr algn="l"/>
            <a:r>
              <a:rPr sz="1700" b="0">
                <a:solidFill>
                  <a:srgbClr val="FFFFFF"/>
                </a:solidFill>
              </a:rPr>
              <a:t>B.  Anorexia Nervosa, because it causes excessive weight loss</a:t>
            </a:r>
          </a:p>
        </p:txBody>
      </p:sp>
      <p:sp>
        <p:nvSpPr>
          <p:cNvPr id="10" name="Rectangle 9"/>
          <p:cNvSpPr/>
          <p:nvPr/>
        </p:nvSpPr>
        <p:spPr>
          <a:xfrm>
            <a:off x="365760" y="420624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8138160" cy="548640"/>
          </a:xfrm>
          <a:prstGeom prst="rect">
            <a:avLst/>
          </a:prstGeom>
          <a:noFill/>
        </p:spPr>
        <p:txBody>
          <a:bodyPr wrap="square">
            <a:spAutoFit/>
          </a:bodyPr>
          <a:lstStyle/>
          <a:p>
            <a:pPr algn="l"/>
            <a:r>
              <a:rPr sz="1700" b="0">
                <a:solidFill>
                  <a:srgbClr val="FFFFFF"/>
                </a:solidFill>
              </a:rPr>
              <a:t>C.  Bulimia Nervosa, because it significantly increases seizure risk in this population</a:t>
            </a:r>
          </a:p>
        </p:txBody>
      </p:sp>
      <p:sp>
        <p:nvSpPr>
          <p:cNvPr id="12" name="Rectangle 11"/>
          <p:cNvSpPr/>
          <p:nvPr/>
        </p:nvSpPr>
        <p:spPr>
          <a:xfrm>
            <a:off x="365760" y="498348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8138160" cy="548640"/>
          </a:xfrm>
          <a:prstGeom prst="rect">
            <a:avLst/>
          </a:prstGeom>
          <a:noFill/>
        </p:spPr>
        <p:txBody>
          <a:bodyPr wrap="square">
            <a:spAutoFit/>
          </a:bodyPr>
          <a:lstStyle/>
          <a:p>
            <a:pPr algn="l"/>
            <a:r>
              <a:rPr sz="1700" b="0">
                <a:solidFill>
                  <a:srgbClr val="FFFFFF"/>
                </a:solidFill>
              </a:rPr>
              <a:t>D.  BED, because it causes cardiovascular events</a:t>
            </a:r>
          </a:p>
        </p:txBody>
      </p:sp>
      <p:sp>
        <p:nvSpPr>
          <p:cNvPr id="14" name="TextBox 13"/>
          <p:cNvSpPr txBox="1"/>
          <p:nvPr/>
        </p:nvSpPr>
        <p:spPr>
          <a:xfrm>
            <a:off x="365760" y="6355080"/>
            <a:ext cx="8412480"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1">
                <a:solidFill>
                  <a:srgbClr val="FFFFFF"/>
                </a:solidFill>
              </a:rPr>
              <a:t>Q3  ANSWER REVEAL  |  Contraindicated Medications – BN</a:t>
            </a:r>
          </a:p>
        </p:txBody>
      </p:sp>
      <p:sp>
        <p:nvSpPr>
          <p:cNvPr id="4" name="TextBox 3"/>
          <p:cNvSpPr txBox="1"/>
          <p:nvPr/>
        </p:nvSpPr>
        <p:spPr>
          <a:xfrm>
            <a:off x="365760" y="1051560"/>
            <a:ext cx="8412480" cy="1005840"/>
          </a:xfrm>
          <a:prstGeom prst="rect">
            <a:avLst/>
          </a:prstGeom>
          <a:noFill/>
        </p:spPr>
        <p:txBody>
          <a:bodyPr wrap="square">
            <a:spAutoFit/>
          </a:bodyPr>
          <a:lstStyle/>
          <a:p>
            <a:pPr algn="l"/>
            <a:r>
              <a:rPr sz="1600" b="0">
                <a:solidFill>
                  <a:srgbClr val="0D2B55"/>
                </a:solidFill>
              </a:rPr>
              <a:t>Bupropion is CONTRAINDICATED in which eating disorder and why?</a:t>
            </a:r>
          </a:p>
        </p:txBody>
      </p:sp>
      <p:sp>
        <p:nvSpPr>
          <p:cNvPr id="5" name="Rectangle 4"/>
          <p:cNvSpPr/>
          <p:nvPr/>
        </p:nvSpPr>
        <p:spPr>
          <a:xfrm>
            <a:off x="365760" y="265176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8138160" cy="548640"/>
          </a:xfrm>
          <a:prstGeom prst="rect">
            <a:avLst/>
          </a:prstGeom>
          <a:noFill/>
        </p:spPr>
        <p:txBody>
          <a:bodyPr wrap="square">
            <a:spAutoFit/>
          </a:bodyPr>
          <a:lstStyle/>
          <a:p>
            <a:pPr algn="l"/>
            <a:r>
              <a:rPr sz="1700" b="0">
                <a:solidFill>
                  <a:srgbClr val="FFFFFF"/>
                </a:solidFill>
              </a:rPr>
              <a:t>  A.  ARFID, because it suppresses appetite excessively</a:t>
            </a:r>
          </a:p>
        </p:txBody>
      </p:sp>
      <p:sp>
        <p:nvSpPr>
          <p:cNvPr id="7" name="Rectangle 6"/>
          <p:cNvSpPr/>
          <p:nvPr/>
        </p:nvSpPr>
        <p:spPr>
          <a:xfrm>
            <a:off x="365760" y="342900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8138160" cy="548640"/>
          </a:xfrm>
          <a:prstGeom prst="rect">
            <a:avLst/>
          </a:prstGeom>
          <a:noFill/>
        </p:spPr>
        <p:txBody>
          <a:bodyPr wrap="square">
            <a:spAutoFit/>
          </a:bodyPr>
          <a:lstStyle/>
          <a:p>
            <a:pPr algn="l"/>
            <a:r>
              <a:rPr sz="1700" b="0">
                <a:solidFill>
                  <a:srgbClr val="FFFFFF"/>
                </a:solidFill>
              </a:rPr>
              <a:t>  B.  Anorexia Nervosa, because it causes excessive weight loss</a:t>
            </a:r>
          </a:p>
        </p:txBody>
      </p:sp>
      <p:sp>
        <p:nvSpPr>
          <p:cNvPr id="9" name="Rectangle 8"/>
          <p:cNvSpPr/>
          <p:nvPr/>
        </p:nvSpPr>
        <p:spPr>
          <a:xfrm>
            <a:off x="365760" y="4206240"/>
            <a:ext cx="8412480"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8138160" cy="548640"/>
          </a:xfrm>
          <a:prstGeom prst="rect">
            <a:avLst/>
          </a:prstGeom>
          <a:noFill/>
        </p:spPr>
        <p:txBody>
          <a:bodyPr wrap="square">
            <a:spAutoFit/>
          </a:bodyPr>
          <a:lstStyle/>
          <a:p>
            <a:pPr algn="l"/>
            <a:r>
              <a:rPr sz="1700" b="1">
                <a:solidFill>
                  <a:srgbClr val="FFFFFF"/>
                </a:solidFill>
              </a:rPr>
              <a:t>✓ C.  Bulimia Nervosa, because it significantly increases seizure risk in this population</a:t>
            </a:r>
          </a:p>
        </p:txBody>
      </p:sp>
      <p:sp>
        <p:nvSpPr>
          <p:cNvPr id="11" name="Rectangle 10"/>
          <p:cNvSpPr/>
          <p:nvPr/>
        </p:nvSpPr>
        <p:spPr>
          <a:xfrm>
            <a:off x="365760" y="498348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8138160" cy="548640"/>
          </a:xfrm>
          <a:prstGeom prst="rect">
            <a:avLst/>
          </a:prstGeom>
          <a:noFill/>
        </p:spPr>
        <p:txBody>
          <a:bodyPr wrap="square">
            <a:spAutoFit/>
          </a:bodyPr>
          <a:lstStyle/>
          <a:p>
            <a:pPr algn="l"/>
            <a:r>
              <a:rPr sz="1700" b="0">
                <a:solidFill>
                  <a:srgbClr val="FFFFFF"/>
                </a:solidFill>
              </a:rPr>
              <a:t>  D.  BED, because it causes cardiovascular events</a:t>
            </a:r>
          </a:p>
        </p:txBody>
      </p:sp>
      <p:sp>
        <p:nvSpPr>
          <p:cNvPr id="13" name="Rectangle 12"/>
          <p:cNvSpPr/>
          <p:nvPr/>
        </p:nvSpPr>
        <p:spPr>
          <a:xfrm>
            <a:off x="320040" y="5166360"/>
            <a:ext cx="8503920"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8229600" cy="1417320"/>
          </a:xfrm>
          <a:prstGeom prst="rect">
            <a:avLst/>
          </a:prstGeom>
          <a:noFill/>
        </p:spPr>
        <p:txBody>
          <a:bodyPr wrap="square">
            <a:spAutoFit/>
          </a:bodyPr>
          <a:lstStyle/>
          <a:p>
            <a:pPr algn="l"/>
            <a:r>
              <a:rPr sz="1400" b="0">
                <a:solidFill>
                  <a:srgbClr val="FFFFFF"/>
                </a:solidFill>
              </a:rPr>
              <a:t>📚  Bupropion lowers the seizure threshold and is contraindicated in BN (and purging AN). Patients with BN often have electrolyte abnormalities (hypokalemia, hypomagnesemia) from purging that further lower the seizure threshold, making the combination especially dangerous. This is a HIGH-YIELD board fact.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0">
                <a:solidFill>
                  <a:srgbClr val="C9A02C"/>
                </a:solidFill>
              </a:rPr>
              <a:t>Q4  |  Pharmacotherapy – AN</a:t>
            </a:r>
          </a:p>
        </p:txBody>
      </p:sp>
      <p:sp>
        <p:nvSpPr>
          <p:cNvPr id="4" name="TextBox 3"/>
          <p:cNvSpPr txBox="1"/>
          <p:nvPr/>
        </p:nvSpPr>
        <p:spPr>
          <a:xfrm>
            <a:off x="7315200"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8412480" cy="1463040"/>
          </a:xfrm>
          <a:prstGeom prst="rect">
            <a:avLst/>
          </a:prstGeom>
          <a:noFill/>
        </p:spPr>
        <p:txBody>
          <a:bodyPr wrap="square">
            <a:spAutoFit/>
          </a:bodyPr>
          <a:lstStyle/>
          <a:p>
            <a:pPr algn="l"/>
            <a:r>
              <a:rPr sz="2000" b="1">
                <a:solidFill>
                  <a:srgbClr val="0D2B55"/>
                </a:solidFill>
              </a:rPr>
              <a:t>Which medication has evidence for weight gain in Anorexia Nervosa and is sometimes used off-label?</a:t>
            </a:r>
          </a:p>
        </p:txBody>
      </p:sp>
      <p:sp>
        <p:nvSpPr>
          <p:cNvPr id="6" name="Rectangle 5"/>
          <p:cNvSpPr/>
          <p:nvPr/>
        </p:nvSpPr>
        <p:spPr>
          <a:xfrm>
            <a:off x="365760" y="265176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8138160" cy="548640"/>
          </a:xfrm>
          <a:prstGeom prst="rect">
            <a:avLst/>
          </a:prstGeom>
          <a:noFill/>
        </p:spPr>
        <p:txBody>
          <a:bodyPr wrap="square">
            <a:spAutoFit/>
          </a:bodyPr>
          <a:lstStyle/>
          <a:p>
            <a:pPr algn="l"/>
            <a:r>
              <a:rPr sz="1700" b="0">
                <a:solidFill>
                  <a:srgbClr val="FFFFFF"/>
                </a:solidFill>
              </a:rPr>
              <a:t>A.  Aripiprazole</a:t>
            </a:r>
          </a:p>
        </p:txBody>
      </p:sp>
      <p:sp>
        <p:nvSpPr>
          <p:cNvPr id="8" name="Rectangle 7"/>
          <p:cNvSpPr/>
          <p:nvPr/>
        </p:nvSpPr>
        <p:spPr>
          <a:xfrm>
            <a:off x="365760" y="342900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8138160" cy="548640"/>
          </a:xfrm>
          <a:prstGeom prst="rect">
            <a:avLst/>
          </a:prstGeom>
          <a:noFill/>
        </p:spPr>
        <p:txBody>
          <a:bodyPr wrap="square">
            <a:spAutoFit/>
          </a:bodyPr>
          <a:lstStyle/>
          <a:p>
            <a:pPr algn="l"/>
            <a:r>
              <a:rPr sz="1700" b="0">
                <a:solidFill>
                  <a:srgbClr val="FFFFFF"/>
                </a:solidFill>
              </a:rPr>
              <a:t>B.  Olanzapine</a:t>
            </a:r>
          </a:p>
        </p:txBody>
      </p:sp>
      <p:sp>
        <p:nvSpPr>
          <p:cNvPr id="10" name="Rectangle 9"/>
          <p:cNvSpPr/>
          <p:nvPr/>
        </p:nvSpPr>
        <p:spPr>
          <a:xfrm>
            <a:off x="365760" y="420624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8138160" cy="548640"/>
          </a:xfrm>
          <a:prstGeom prst="rect">
            <a:avLst/>
          </a:prstGeom>
          <a:noFill/>
        </p:spPr>
        <p:txBody>
          <a:bodyPr wrap="square">
            <a:spAutoFit/>
          </a:bodyPr>
          <a:lstStyle/>
          <a:p>
            <a:pPr algn="l"/>
            <a:r>
              <a:rPr sz="1700" b="0">
                <a:solidFill>
                  <a:srgbClr val="FFFFFF"/>
                </a:solidFill>
              </a:rPr>
              <a:t>C.  Quetiapine</a:t>
            </a:r>
          </a:p>
        </p:txBody>
      </p:sp>
      <p:sp>
        <p:nvSpPr>
          <p:cNvPr id="12" name="Rectangle 11"/>
          <p:cNvSpPr/>
          <p:nvPr/>
        </p:nvSpPr>
        <p:spPr>
          <a:xfrm>
            <a:off x="365760" y="498348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8138160" cy="548640"/>
          </a:xfrm>
          <a:prstGeom prst="rect">
            <a:avLst/>
          </a:prstGeom>
          <a:noFill/>
        </p:spPr>
        <p:txBody>
          <a:bodyPr wrap="square">
            <a:spAutoFit/>
          </a:bodyPr>
          <a:lstStyle/>
          <a:p>
            <a:pPr algn="l"/>
            <a:r>
              <a:rPr sz="1700" b="0">
                <a:solidFill>
                  <a:srgbClr val="FFFFFF"/>
                </a:solidFill>
              </a:rPr>
              <a:t>D.  Clozapine</a:t>
            </a:r>
          </a:p>
        </p:txBody>
      </p:sp>
      <p:sp>
        <p:nvSpPr>
          <p:cNvPr id="14" name="TextBox 13"/>
          <p:cNvSpPr txBox="1"/>
          <p:nvPr/>
        </p:nvSpPr>
        <p:spPr>
          <a:xfrm>
            <a:off x="365760" y="6355080"/>
            <a:ext cx="8412480"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1">
                <a:solidFill>
                  <a:srgbClr val="FFFFFF"/>
                </a:solidFill>
              </a:rPr>
              <a:t>Q4  ANSWER REVEAL  |  Pharmacotherapy – AN</a:t>
            </a:r>
          </a:p>
        </p:txBody>
      </p:sp>
      <p:sp>
        <p:nvSpPr>
          <p:cNvPr id="4" name="TextBox 3"/>
          <p:cNvSpPr txBox="1"/>
          <p:nvPr/>
        </p:nvSpPr>
        <p:spPr>
          <a:xfrm>
            <a:off x="365760" y="1051560"/>
            <a:ext cx="8412480" cy="1005840"/>
          </a:xfrm>
          <a:prstGeom prst="rect">
            <a:avLst/>
          </a:prstGeom>
          <a:noFill/>
        </p:spPr>
        <p:txBody>
          <a:bodyPr wrap="square">
            <a:spAutoFit/>
          </a:bodyPr>
          <a:lstStyle/>
          <a:p>
            <a:pPr algn="l"/>
            <a:r>
              <a:rPr sz="1600" b="0">
                <a:solidFill>
                  <a:srgbClr val="0D2B55"/>
                </a:solidFill>
              </a:rPr>
              <a:t>Which medication has evidence for weight gain in Anorexia Nervosa and is sometimes used off-label?</a:t>
            </a:r>
          </a:p>
        </p:txBody>
      </p:sp>
      <p:sp>
        <p:nvSpPr>
          <p:cNvPr id="5" name="Rectangle 4"/>
          <p:cNvSpPr/>
          <p:nvPr/>
        </p:nvSpPr>
        <p:spPr>
          <a:xfrm>
            <a:off x="365760" y="265176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8138160" cy="548640"/>
          </a:xfrm>
          <a:prstGeom prst="rect">
            <a:avLst/>
          </a:prstGeom>
          <a:noFill/>
        </p:spPr>
        <p:txBody>
          <a:bodyPr wrap="square">
            <a:spAutoFit/>
          </a:bodyPr>
          <a:lstStyle/>
          <a:p>
            <a:pPr algn="l"/>
            <a:r>
              <a:rPr sz="1700" b="0">
                <a:solidFill>
                  <a:srgbClr val="FFFFFF"/>
                </a:solidFill>
              </a:rPr>
              <a:t>  A.  Aripiprazole</a:t>
            </a:r>
          </a:p>
        </p:txBody>
      </p:sp>
      <p:sp>
        <p:nvSpPr>
          <p:cNvPr id="7" name="Rectangle 6"/>
          <p:cNvSpPr/>
          <p:nvPr/>
        </p:nvSpPr>
        <p:spPr>
          <a:xfrm>
            <a:off x="365760" y="3429000"/>
            <a:ext cx="8412480"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8138160" cy="548640"/>
          </a:xfrm>
          <a:prstGeom prst="rect">
            <a:avLst/>
          </a:prstGeom>
          <a:noFill/>
        </p:spPr>
        <p:txBody>
          <a:bodyPr wrap="square">
            <a:spAutoFit/>
          </a:bodyPr>
          <a:lstStyle/>
          <a:p>
            <a:pPr algn="l"/>
            <a:r>
              <a:rPr sz="1700" b="1">
                <a:solidFill>
                  <a:srgbClr val="FFFFFF"/>
                </a:solidFill>
              </a:rPr>
              <a:t>✓ B.  Olanzapine</a:t>
            </a:r>
          </a:p>
        </p:txBody>
      </p:sp>
      <p:sp>
        <p:nvSpPr>
          <p:cNvPr id="9" name="Rectangle 8"/>
          <p:cNvSpPr/>
          <p:nvPr/>
        </p:nvSpPr>
        <p:spPr>
          <a:xfrm>
            <a:off x="365760" y="420624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8138160" cy="548640"/>
          </a:xfrm>
          <a:prstGeom prst="rect">
            <a:avLst/>
          </a:prstGeom>
          <a:noFill/>
        </p:spPr>
        <p:txBody>
          <a:bodyPr wrap="square">
            <a:spAutoFit/>
          </a:bodyPr>
          <a:lstStyle/>
          <a:p>
            <a:pPr algn="l"/>
            <a:r>
              <a:rPr sz="1700" b="0">
                <a:solidFill>
                  <a:srgbClr val="FFFFFF"/>
                </a:solidFill>
              </a:rPr>
              <a:t>  C.  Quetiapine</a:t>
            </a:r>
          </a:p>
        </p:txBody>
      </p:sp>
      <p:sp>
        <p:nvSpPr>
          <p:cNvPr id="11" name="Rectangle 10"/>
          <p:cNvSpPr/>
          <p:nvPr/>
        </p:nvSpPr>
        <p:spPr>
          <a:xfrm>
            <a:off x="365760" y="498348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8138160" cy="548640"/>
          </a:xfrm>
          <a:prstGeom prst="rect">
            <a:avLst/>
          </a:prstGeom>
          <a:noFill/>
        </p:spPr>
        <p:txBody>
          <a:bodyPr wrap="square">
            <a:spAutoFit/>
          </a:bodyPr>
          <a:lstStyle/>
          <a:p>
            <a:pPr algn="l"/>
            <a:r>
              <a:rPr sz="1700" b="0">
                <a:solidFill>
                  <a:srgbClr val="FFFFFF"/>
                </a:solidFill>
              </a:rPr>
              <a:t>  D.  Clozapine</a:t>
            </a:r>
          </a:p>
        </p:txBody>
      </p:sp>
      <p:sp>
        <p:nvSpPr>
          <p:cNvPr id="13" name="Rectangle 12"/>
          <p:cNvSpPr/>
          <p:nvPr/>
        </p:nvSpPr>
        <p:spPr>
          <a:xfrm>
            <a:off x="320040" y="5166360"/>
            <a:ext cx="8503920"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8229600" cy="1417320"/>
          </a:xfrm>
          <a:prstGeom prst="rect">
            <a:avLst/>
          </a:prstGeom>
          <a:noFill/>
        </p:spPr>
        <p:txBody>
          <a:bodyPr wrap="square">
            <a:spAutoFit/>
          </a:bodyPr>
          <a:lstStyle/>
          <a:p>
            <a:pPr algn="l"/>
            <a:r>
              <a:rPr sz="1400" b="0">
                <a:solidFill>
                  <a:srgbClr val="FFFFFF"/>
                </a:solidFill>
              </a:rPr>
              <a:t>📚  Olanzapine has the most evidence among antipsychotics for adjunctive use in AN. It promotes weight gain, reduces anxiety around eating, and may address obsessional thinking about food. However, no medication is FDA-approved for AN, and the evidence base remains limited. A 2018 NEJM RCT showed modest benefit over placebo.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0">
                <a:solidFill>
                  <a:srgbClr val="C9A02C"/>
                </a:solidFill>
              </a:rPr>
              <a:t>Q5  |  Comorbid MDD + BN Treatment</a:t>
            </a:r>
          </a:p>
        </p:txBody>
      </p:sp>
      <p:sp>
        <p:nvSpPr>
          <p:cNvPr id="4" name="TextBox 3"/>
          <p:cNvSpPr txBox="1"/>
          <p:nvPr/>
        </p:nvSpPr>
        <p:spPr>
          <a:xfrm>
            <a:off x="7315200" y="91440"/>
            <a:ext cx="1645920" cy="411480"/>
          </a:xfrm>
          <a:prstGeom prst="rect">
            <a:avLst/>
          </a:prstGeom>
          <a:noFill/>
        </p:spPr>
        <p:txBody>
          <a:bodyPr wrap="square">
            <a:spAutoFit/>
          </a:bodyPr>
          <a:lstStyle/>
          <a:p>
            <a:pPr algn="r"/>
            <a:r>
              <a:rPr sz="1300" b="0">
                <a:solidFill>
                  <a:srgbClr val="F2F4F8"/>
                </a:solidFill>
              </a:rPr>
              <a:t>Difficulty: MEDIUM</a:t>
            </a:r>
          </a:p>
        </p:txBody>
      </p:sp>
      <p:sp>
        <p:nvSpPr>
          <p:cNvPr id="5" name="TextBox 4"/>
          <p:cNvSpPr txBox="1"/>
          <p:nvPr/>
        </p:nvSpPr>
        <p:spPr>
          <a:xfrm>
            <a:off x="365760" y="1051560"/>
            <a:ext cx="8412480" cy="1463040"/>
          </a:xfrm>
          <a:prstGeom prst="rect">
            <a:avLst/>
          </a:prstGeom>
          <a:noFill/>
        </p:spPr>
        <p:txBody>
          <a:bodyPr wrap="square">
            <a:spAutoFit/>
          </a:bodyPr>
          <a:lstStyle/>
          <a:p>
            <a:pPr algn="l"/>
            <a:r>
              <a:rPr sz="2000" b="1">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6" name="Rectangle 5"/>
          <p:cNvSpPr/>
          <p:nvPr/>
        </p:nvSpPr>
        <p:spPr>
          <a:xfrm>
            <a:off x="365760" y="265176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2724912"/>
            <a:ext cx="8138160" cy="548640"/>
          </a:xfrm>
          <a:prstGeom prst="rect">
            <a:avLst/>
          </a:prstGeom>
          <a:noFill/>
        </p:spPr>
        <p:txBody>
          <a:bodyPr wrap="square">
            <a:spAutoFit/>
          </a:bodyPr>
          <a:lstStyle/>
          <a:p>
            <a:pPr algn="l"/>
            <a:r>
              <a:rPr sz="1700" b="0">
                <a:solidFill>
                  <a:srgbClr val="FFFFFF"/>
                </a:solidFill>
              </a:rPr>
              <a:t>A.  Bupropion, as it treats both conditions effectively</a:t>
            </a:r>
          </a:p>
        </p:txBody>
      </p:sp>
      <p:sp>
        <p:nvSpPr>
          <p:cNvPr id="8" name="Rectangle 7"/>
          <p:cNvSpPr/>
          <p:nvPr/>
        </p:nvSpPr>
        <p:spPr>
          <a:xfrm>
            <a:off x="365760" y="342900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502152"/>
            <a:ext cx="8138160" cy="548640"/>
          </a:xfrm>
          <a:prstGeom prst="rect">
            <a:avLst/>
          </a:prstGeom>
          <a:noFill/>
        </p:spPr>
        <p:txBody>
          <a:bodyPr wrap="square">
            <a:spAutoFit/>
          </a:bodyPr>
          <a:lstStyle/>
          <a:p>
            <a:pPr algn="l"/>
            <a:r>
              <a:rPr sz="1700" b="0">
                <a:solidFill>
                  <a:srgbClr val="FFFFFF"/>
                </a:solidFill>
              </a:rPr>
              <a:t>B.  Fluoxetine 60 mg/day, as it is FDA-approved for BN and also treats depression</a:t>
            </a:r>
          </a:p>
        </p:txBody>
      </p:sp>
      <p:sp>
        <p:nvSpPr>
          <p:cNvPr id="10" name="Rectangle 9"/>
          <p:cNvSpPr/>
          <p:nvPr/>
        </p:nvSpPr>
        <p:spPr>
          <a:xfrm>
            <a:off x="365760" y="420624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279392"/>
            <a:ext cx="8138160" cy="548640"/>
          </a:xfrm>
          <a:prstGeom prst="rect">
            <a:avLst/>
          </a:prstGeom>
          <a:noFill/>
        </p:spPr>
        <p:txBody>
          <a:bodyPr wrap="square">
            <a:spAutoFit/>
          </a:bodyPr>
          <a:lstStyle/>
          <a:p>
            <a:pPr algn="l"/>
            <a:r>
              <a:rPr sz="1700" b="0">
                <a:solidFill>
                  <a:srgbClr val="FFFFFF"/>
                </a:solidFill>
              </a:rPr>
              <a:t>C.  Tricyclic antidepressants, as they are highly effective for BN</a:t>
            </a:r>
          </a:p>
        </p:txBody>
      </p:sp>
      <p:sp>
        <p:nvSpPr>
          <p:cNvPr id="12" name="Rectangle 11"/>
          <p:cNvSpPr/>
          <p:nvPr/>
        </p:nvSpPr>
        <p:spPr>
          <a:xfrm>
            <a:off x="365760" y="4983480"/>
            <a:ext cx="8412480" cy="685800"/>
          </a:xfrm>
          <a:prstGeom prst="rect">
            <a:avLst/>
          </a:prstGeom>
          <a:solidFill>
            <a:srgbClr val="1A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5056632"/>
            <a:ext cx="8138160" cy="548640"/>
          </a:xfrm>
          <a:prstGeom prst="rect">
            <a:avLst/>
          </a:prstGeom>
          <a:noFill/>
        </p:spPr>
        <p:txBody>
          <a:bodyPr wrap="square">
            <a:spAutoFit/>
          </a:bodyPr>
          <a:lstStyle/>
          <a:p>
            <a:pPr algn="l"/>
            <a:r>
              <a:rPr sz="1700" b="0">
                <a:solidFill>
                  <a:srgbClr val="FFFFFF"/>
                </a:solidFill>
              </a:rPr>
              <a:t>D.  MAOIs, as they have the best evidence for comorbid eating disorders and depression</a:t>
            </a:r>
          </a:p>
        </p:txBody>
      </p:sp>
      <p:sp>
        <p:nvSpPr>
          <p:cNvPr id="14" name="TextBox 13"/>
          <p:cNvSpPr txBox="1"/>
          <p:nvPr/>
        </p:nvSpPr>
        <p:spPr>
          <a:xfrm>
            <a:off x="365760" y="6355080"/>
            <a:ext cx="8412480" cy="411480"/>
          </a:xfrm>
          <a:prstGeom prst="rect">
            <a:avLst/>
          </a:prstGeom>
          <a:noFill/>
        </p:spPr>
        <p:txBody>
          <a:bodyPr wrap="square">
            <a:spAutoFit/>
          </a:bodyPr>
          <a:lstStyle/>
          <a:p>
            <a:pPr algn="ctr"/>
            <a:r>
              <a:rPr sz="1300" b="0">
                <a:solidFill>
                  <a:srgbClr val="0D2B55"/>
                </a:solidFill>
              </a:rPr>
              <a:t>⏱  Discuss with your team, then advance to reveal the answer.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411480"/>
          </a:xfrm>
          <a:prstGeom prst="rect">
            <a:avLst/>
          </a:prstGeom>
          <a:noFill/>
        </p:spPr>
        <p:txBody>
          <a:bodyPr wrap="square">
            <a:spAutoFit/>
          </a:bodyPr>
          <a:lstStyle/>
          <a:p>
            <a:pPr algn="l"/>
            <a:r>
              <a:rPr sz="1400" b="1">
                <a:solidFill>
                  <a:srgbClr val="FFFFFF"/>
                </a:solidFill>
              </a:rPr>
              <a:t>Q5  ANSWER REVEAL  |  Comorbid MDD + BN Treatment</a:t>
            </a:r>
          </a:p>
        </p:txBody>
      </p:sp>
      <p:sp>
        <p:nvSpPr>
          <p:cNvPr id="4" name="TextBox 3"/>
          <p:cNvSpPr txBox="1"/>
          <p:nvPr/>
        </p:nvSpPr>
        <p:spPr>
          <a:xfrm>
            <a:off x="365760" y="1051560"/>
            <a:ext cx="8412480" cy="1005840"/>
          </a:xfrm>
          <a:prstGeom prst="rect">
            <a:avLst/>
          </a:prstGeom>
          <a:noFill/>
        </p:spPr>
        <p:txBody>
          <a:bodyPr wrap="square">
            <a:spAutoFit/>
          </a:bodyPr>
          <a:lstStyle/>
          <a:p>
            <a:pPr algn="l"/>
            <a:r>
              <a:rPr sz="1600" b="0">
                <a:solidFill>
                  <a:srgbClr val="0D2B55"/>
                </a:solidFill>
              </a:rPr>
              <a:t>When initiating pharmacotherapy for a patient with Bulimia Nervosa, the clinician notes that the patient is also diagnosed with Major Depressive Disorder. What is the BEST first-line pharmacological choice?</a:t>
            </a:r>
          </a:p>
        </p:txBody>
      </p:sp>
      <p:sp>
        <p:nvSpPr>
          <p:cNvPr id="5" name="Rectangle 4"/>
          <p:cNvSpPr/>
          <p:nvPr/>
        </p:nvSpPr>
        <p:spPr>
          <a:xfrm>
            <a:off x="365760" y="265176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75488" y="2706624"/>
            <a:ext cx="8138160" cy="548640"/>
          </a:xfrm>
          <a:prstGeom prst="rect">
            <a:avLst/>
          </a:prstGeom>
          <a:noFill/>
        </p:spPr>
        <p:txBody>
          <a:bodyPr wrap="square">
            <a:spAutoFit/>
          </a:bodyPr>
          <a:lstStyle/>
          <a:p>
            <a:pPr algn="l"/>
            <a:r>
              <a:rPr sz="1700" b="0">
                <a:solidFill>
                  <a:srgbClr val="FFFFFF"/>
                </a:solidFill>
              </a:rPr>
              <a:t>  A.  Bupropion, as it treats both conditions effectively</a:t>
            </a:r>
          </a:p>
        </p:txBody>
      </p:sp>
      <p:sp>
        <p:nvSpPr>
          <p:cNvPr id="7" name="Rectangle 6"/>
          <p:cNvSpPr/>
          <p:nvPr/>
        </p:nvSpPr>
        <p:spPr>
          <a:xfrm>
            <a:off x="365760" y="3429000"/>
            <a:ext cx="8412480" cy="65836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75488" y="3483864"/>
            <a:ext cx="8138160" cy="548640"/>
          </a:xfrm>
          <a:prstGeom prst="rect">
            <a:avLst/>
          </a:prstGeom>
          <a:noFill/>
        </p:spPr>
        <p:txBody>
          <a:bodyPr wrap="square">
            <a:spAutoFit/>
          </a:bodyPr>
          <a:lstStyle/>
          <a:p>
            <a:pPr algn="l"/>
            <a:r>
              <a:rPr sz="1700" b="1">
                <a:solidFill>
                  <a:srgbClr val="FFFFFF"/>
                </a:solidFill>
              </a:rPr>
              <a:t>✓ B.  Fluoxetine 60 mg/day, as it is FDA-approved for BN and also treats depression</a:t>
            </a:r>
          </a:p>
        </p:txBody>
      </p:sp>
      <p:sp>
        <p:nvSpPr>
          <p:cNvPr id="9" name="Rectangle 8"/>
          <p:cNvSpPr/>
          <p:nvPr/>
        </p:nvSpPr>
        <p:spPr>
          <a:xfrm>
            <a:off x="365760" y="420624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5488" y="4261104"/>
            <a:ext cx="8138160" cy="548640"/>
          </a:xfrm>
          <a:prstGeom prst="rect">
            <a:avLst/>
          </a:prstGeom>
          <a:noFill/>
        </p:spPr>
        <p:txBody>
          <a:bodyPr wrap="square">
            <a:spAutoFit/>
          </a:bodyPr>
          <a:lstStyle/>
          <a:p>
            <a:pPr algn="l"/>
            <a:r>
              <a:rPr sz="1700" b="0">
                <a:solidFill>
                  <a:srgbClr val="FFFFFF"/>
                </a:solidFill>
              </a:rPr>
              <a:t>  C.  Tricyclic antidepressants, as they are highly effective for BN</a:t>
            </a:r>
          </a:p>
        </p:txBody>
      </p:sp>
      <p:sp>
        <p:nvSpPr>
          <p:cNvPr id="11" name="Rectangle 10"/>
          <p:cNvSpPr/>
          <p:nvPr/>
        </p:nvSpPr>
        <p:spPr>
          <a:xfrm>
            <a:off x="365760" y="4983480"/>
            <a:ext cx="8412480" cy="65836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5038344"/>
            <a:ext cx="8138160" cy="548640"/>
          </a:xfrm>
          <a:prstGeom prst="rect">
            <a:avLst/>
          </a:prstGeom>
          <a:noFill/>
        </p:spPr>
        <p:txBody>
          <a:bodyPr wrap="square">
            <a:spAutoFit/>
          </a:bodyPr>
          <a:lstStyle/>
          <a:p>
            <a:pPr algn="l"/>
            <a:r>
              <a:rPr sz="1700" b="0">
                <a:solidFill>
                  <a:srgbClr val="FFFFFF"/>
                </a:solidFill>
              </a:rPr>
              <a:t>  D.  MAOIs, as they have the best evidence for comorbid eating disorders and depression</a:t>
            </a:r>
          </a:p>
        </p:txBody>
      </p:sp>
      <p:sp>
        <p:nvSpPr>
          <p:cNvPr id="13" name="Rectangle 12"/>
          <p:cNvSpPr/>
          <p:nvPr/>
        </p:nvSpPr>
        <p:spPr>
          <a:xfrm>
            <a:off x="320040" y="5166360"/>
            <a:ext cx="8503920" cy="150876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5212080"/>
            <a:ext cx="8229600" cy="1417320"/>
          </a:xfrm>
          <a:prstGeom prst="rect">
            <a:avLst/>
          </a:prstGeom>
          <a:noFill/>
        </p:spPr>
        <p:txBody>
          <a:bodyPr wrap="square">
            <a:spAutoFit/>
          </a:bodyPr>
          <a:lstStyle/>
          <a:p>
            <a:pPr algn="l"/>
            <a:r>
              <a:rPr sz="1400" b="0">
                <a:solidFill>
                  <a:srgbClr val="FFFFFF"/>
                </a:solidFill>
              </a:rPr>
              <a:t>📚  Fluoxetine at 60 mg/day is the first-line medication for BN; it also treats comorbid MDD. Bupropion is contraindicated in BN due to seizure risk. TCAs and MAOIs have evidence for BN but adverse effect profiles make them second/third-line. The combination of CBT-E + fluoxetine is superior to either alone.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731520"/>
          </a:xfrm>
          <a:prstGeom prst="rect">
            <a:avLst/>
          </a:prstGeom>
          <a:noFill/>
        </p:spPr>
        <p:txBody>
          <a:bodyPr wrap="square">
            <a:spAutoFit/>
          </a:bodyPr>
          <a:lstStyle/>
          <a:p>
            <a:pPr algn="ctr"/>
            <a:r>
              <a:rPr sz="2800" b="1">
                <a:solidFill>
                  <a:srgbClr val="FFFFFF"/>
                </a:solidFill>
              </a:rPr>
              <a:t>High-Yield Board Facts – Part 1</a:t>
            </a:r>
          </a:p>
        </p:txBody>
      </p:sp>
      <p:sp>
        <p:nvSpPr>
          <p:cNvPr id="4" name="TextBox 3"/>
          <p:cNvSpPr txBox="1"/>
          <p:nvPr/>
        </p:nvSpPr>
        <p:spPr>
          <a:xfrm>
            <a:off x="457200" y="1097280"/>
            <a:ext cx="8229600" cy="594360"/>
          </a:xfrm>
          <a:prstGeom prst="rect">
            <a:avLst/>
          </a:prstGeom>
          <a:noFill/>
        </p:spPr>
        <p:txBody>
          <a:bodyPr wrap="square">
            <a:spAutoFit/>
          </a:bodyPr>
          <a:lstStyle/>
          <a:p>
            <a:pPr algn="l"/>
            <a:r>
              <a:rPr sz="1600" b="0">
                <a:solidFill>
                  <a:srgbClr val="0D2B55"/>
                </a:solidFill>
              </a:rPr>
              <a:t>★  AN has the highest mortality rate of ANY psychiatric disorder (SMR ~5-10x).</a:t>
            </a:r>
          </a:p>
        </p:txBody>
      </p:sp>
      <p:sp>
        <p:nvSpPr>
          <p:cNvPr id="5" name="TextBox 4"/>
          <p:cNvSpPr txBox="1"/>
          <p:nvPr/>
        </p:nvSpPr>
        <p:spPr>
          <a:xfrm>
            <a:off x="457200" y="1755648"/>
            <a:ext cx="8229600" cy="594360"/>
          </a:xfrm>
          <a:prstGeom prst="rect">
            <a:avLst/>
          </a:prstGeom>
          <a:noFill/>
        </p:spPr>
        <p:txBody>
          <a:bodyPr wrap="square">
            <a:spAutoFit/>
          </a:bodyPr>
          <a:lstStyle/>
          <a:p>
            <a:pPr algn="l"/>
            <a:r>
              <a:rPr sz="1600" b="0">
                <a:solidFill>
                  <a:srgbClr val="0D2B55"/>
                </a:solidFill>
              </a:rPr>
              <a:t>★  DSM-5 REMOVED amenorrhea as a required criterion for AN.</a:t>
            </a:r>
          </a:p>
        </p:txBody>
      </p:sp>
      <p:sp>
        <p:nvSpPr>
          <p:cNvPr id="6" name="TextBox 5"/>
          <p:cNvSpPr txBox="1"/>
          <p:nvPr/>
        </p:nvSpPr>
        <p:spPr>
          <a:xfrm>
            <a:off x="457200" y="2414016"/>
            <a:ext cx="8229600" cy="594360"/>
          </a:xfrm>
          <a:prstGeom prst="rect">
            <a:avLst/>
          </a:prstGeom>
          <a:noFill/>
        </p:spPr>
        <p:txBody>
          <a:bodyPr wrap="square">
            <a:spAutoFit/>
          </a:bodyPr>
          <a:lstStyle/>
          <a:p>
            <a:pPr algn="l"/>
            <a:r>
              <a:rPr sz="1600" b="0">
                <a:solidFill>
                  <a:srgbClr val="0D2B55"/>
                </a:solidFill>
              </a:rPr>
              <a:t>★  DSM-5 reduced BN binge/purge frequency threshold: once/week (was twice/week).</a:t>
            </a:r>
          </a:p>
        </p:txBody>
      </p:sp>
      <p:sp>
        <p:nvSpPr>
          <p:cNvPr id="7" name="TextBox 6"/>
          <p:cNvSpPr txBox="1"/>
          <p:nvPr/>
        </p:nvSpPr>
        <p:spPr>
          <a:xfrm>
            <a:off x="457200" y="3072384"/>
            <a:ext cx="8229600" cy="594360"/>
          </a:xfrm>
          <a:prstGeom prst="rect">
            <a:avLst/>
          </a:prstGeom>
          <a:noFill/>
        </p:spPr>
        <p:txBody>
          <a:bodyPr wrap="square">
            <a:spAutoFit/>
          </a:bodyPr>
          <a:lstStyle/>
          <a:p>
            <a:pPr algn="l"/>
            <a:r>
              <a:rPr sz="1600" b="0">
                <a:solidFill>
                  <a:srgbClr val="0D2B55"/>
                </a:solidFill>
              </a:rPr>
              <a:t>★  Fluoxetine 60 mg/day = only FDA-approved med for Bulimia Nervosa.</a:t>
            </a:r>
          </a:p>
        </p:txBody>
      </p:sp>
      <p:sp>
        <p:nvSpPr>
          <p:cNvPr id="8" name="TextBox 7"/>
          <p:cNvSpPr txBox="1"/>
          <p:nvPr/>
        </p:nvSpPr>
        <p:spPr>
          <a:xfrm>
            <a:off x="457200" y="3730752"/>
            <a:ext cx="8229600" cy="594360"/>
          </a:xfrm>
          <a:prstGeom prst="rect">
            <a:avLst/>
          </a:prstGeom>
          <a:noFill/>
        </p:spPr>
        <p:txBody>
          <a:bodyPr wrap="square">
            <a:spAutoFit/>
          </a:bodyPr>
          <a:lstStyle/>
          <a:p>
            <a:pPr algn="l"/>
            <a:r>
              <a:rPr sz="1600" b="0">
                <a:solidFill>
                  <a:srgbClr val="0D2B55"/>
                </a:solidFill>
              </a:rPr>
              <a:t>★  Lisdexamfetamine (Vyvanse) = only FDA-approved med for Binge Eating Disorder.</a:t>
            </a:r>
          </a:p>
        </p:txBody>
      </p:sp>
      <p:sp>
        <p:nvSpPr>
          <p:cNvPr id="9" name="TextBox 8"/>
          <p:cNvSpPr txBox="1"/>
          <p:nvPr/>
        </p:nvSpPr>
        <p:spPr>
          <a:xfrm>
            <a:off x="457200" y="4389120"/>
            <a:ext cx="8229600" cy="594360"/>
          </a:xfrm>
          <a:prstGeom prst="rect">
            <a:avLst/>
          </a:prstGeom>
          <a:noFill/>
        </p:spPr>
        <p:txBody>
          <a:bodyPr wrap="square">
            <a:spAutoFit/>
          </a:bodyPr>
          <a:lstStyle/>
          <a:p>
            <a:pPr algn="l"/>
            <a:r>
              <a:rPr sz="1600" b="0">
                <a:solidFill>
                  <a:srgbClr val="0D2B55"/>
                </a:solidFill>
              </a:rPr>
              <a:t>★  BUPROPION is CONTRAINDICATED in BN (↑ seizure risk).</a:t>
            </a:r>
          </a:p>
        </p:txBody>
      </p:sp>
      <p:sp>
        <p:nvSpPr>
          <p:cNvPr id="10" name="TextBox 9"/>
          <p:cNvSpPr txBox="1"/>
          <p:nvPr/>
        </p:nvSpPr>
        <p:spPr>
          <a:xfrm>
            <a:off x="457200" y="5047488"/>
            <a:ext cx="8229600" cy="594360"/>
          </a:xfrm>
          <a:prstGeom prst="rect">
            <a:avLst/>
          </a:prstGeom>
          <a:noFill/>
        </p:spPr>
        <p:txBody>
          <a:bodyPr wrap="square">
            <a:spAutoFit/>
          </a:bodyPr>
          <a:lstStyle/>
          <a:p>
            <a:pPr algn="l"/>
            <a:r>
              <a:rPr sz="1600" b="0">
                <a:solidFill>
                  <a:srgbClr val="0D2B55"/>
                </a:solidFill>
              </a:rPr>
              <a:t>★  Refeeding syndrome: hypophosphatemia → cardiac/respiratory failure.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4F8"/>
        </a:solidFill>
        <a:effectLst/>
      </p:bgPr>
    </p:bg>
    <p:spTree>
      <p:nvGrpSpPr>
        <p:cNvPr id="1" name=""/>
        <p:cNvGrpSpPr/>
        <p:nvPr/>
      </p:nvGrpSpPr>
      <p:grpSpPr/>
      <p:sp>
        <p:nvSpPr>
          <p:cNvPr id="2" name="Rectangle 1"/>
          <p:cNvSpPr/>
          <p:nvPr/>
        </p:nvSpPr>
        <p:spPr>
          <a:xfrm>
            <a:off x="0" y="0"/>
            <a:ext cx="9144000" cy="960120"/>
          </a:xfrm>
          <a:prstGeom prst="rect">
            <a:avLst/>
          </a:prstGeom>
          <a:solidFill>
            <a:srgbClr val="0D2B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8595360" cy="731520"/>
          </a:xfrm>
          <a:prstGeom prst="rect">
            <a:avLst/>
          </a:prstGeom>
          <a:noFill/>
        </p:spPr>
        <p:txBody>
          <a:bodyPr wrap="square">
            <a:spAutoFit/>
          </a:bodyPr>
          <a:lstStyle/>
          <a:p>
            <a:pPr algn="ctr"/>
            <a:r>
              <a:rPr sz="2800" b="1">
                <a:solidFill>
                  <a:srgbClr val="FFFFFF"/>
                </a:solidFill>
              </a:rPr>
              <a:t>High-Yield Board Facts – Part 2</a:t>
            </a:r>
          </a:p>
        </p:txBody>
      </p:sp>
      <p:sp>
        <p:nvSpPr>
          <p:cNvPr id="4" name="TextBox 3"/>
          <p:cNvSpPr txBox="1"/>
          <p:nvPr/>
        </p:nvSpPr>
        <p:spPr>
          <a:xfrm>
            <a:off x="457200" y="1097280"/>
            <a:ext cx="8229600" cy="594360"/>
          </a:xfrm>
          <a:prstGeom prst="rect">
            <a:avLst/>
          </a:prstGeom>
          <a:noFill/>
        </p:spPr>
        <p:txBody>
          <a:bodyPr wrap="square">
            <a:spAutoFit/>
          </a:bodyPr>
          <a:lstStyle/>
          <a:p>
            <a:pPr algn="l"/>
            <a:r>
              <a:rPr sz="1600" b="0">
                <a:solidFill>
                  <a:srgbClr val="0D2B55"/>
                </a:solidFill>
              </a:rPr>
              <a:t>★  Russell's Sign = dorsal hand calluses from self-induced vomiting (BN).</a:t>
            </a:r>
          </a:p>
        </p:txBody>
      </p:sp>
      <p:sp>
        <p:nvSpPr>
          <p:cNvPr id="5" name="TextBox 4"/>
          <p:cNvSpPr txBox="1"/>
          <p:nvPr/>
        </p:nvSpPr>
        <p:spPr>
          <a:xfrm>
            <a:off x="457200" y="1755648"/>
            <a:ext cx="8229600" cy="594360"/>
          </a:xfrm>
          <a:prstGeom prst="rect">
            <a:avLst/>
          </a:prstGeom>
          <a:noFill/>
        </p:spPr>
        <p:txBody>
          <a:bodyPr wrap="square">
            <a:spAutoFit/>
          </a:bodyPr>
          <a:lstStyle/>
          <a:p>
            <a:pPr algn="l"/>
            <a:r>
              <a:rPr sz="1600" b="0">
                <a:solidFill>
                  <a:srgbClr val="0D2B55"/>
                </a:solidFill>
              </a:rPr>
              <a:t>★  FBT (Maudsley) = first-line therapy for adolescents with AN.</a:t>
            </a:r>
          </a:p>
        </p:txBody>
      </p:sp>
      <p:sp>
        <p:nvSpPr>
          <p:cNvPr id="6" name="TextBox 5"/>
          <p:cNvSpPr txBox="1"/>
          <p:nvPr/>
        </p:nvSpPr>
        <p:spPr>
          <a:xfrm>
            <a:off x="457200" y="2414016"/>
            <a:ext cx="8229600" cy="594360"/>
          </a:xfrm>
          <a:prstGeom prst="rect">
            <a:avLst/>
          </a:prstGeom>
          <a:noFill/>
        </p:spPr>
        <p:txBody>
          <a:bodyPr wrap="square">
            <a:spAutoFit/>
          </a:bodyPr>
          <a:lstStyle/>
          <a:p>
            <a:pPr algn="l"/>
            <a:r>
              <a:rPr sz="1600" b="0">
                <a:solidFill>
                  <a:srgbClr val="0D2B55"/>
                </a:solidFill>
              </a:rPr>
              <a:t>★  CBT-E = first-line psychotherapy for BN and BED in adults.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